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5.xml" ContentType="application/vnd.openxmlformats-officedocument.theme+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trike="noStrike" u="none">
                <a:solidFill>
                  <a:srgbClr val="000000"/>
                </a:solidFill>
                <a:uFillTx/>
                <a:latin typeface="Arial"/>
              </a:defRPr>
            </a:pPr>
            <a:r>
              <a:rPr b="0" sz="1400" strike="noStrike" u="none">
                <a:solidFill>
                  <a:srgbClr val="1b2b2a"/>
                </a:solidFill>
                <a:uFillTx/>
                <a:latin typeface="Calibri"/>
              </a:rPr>
              <a:t>Monthly sales (USD)</a:t>
            </a:r>
          </a:p>
        </c:rich>
      </c:tx>
      <c:overlay val="0"/>
      <c:spPr>
        <a:noFill/>
        <a:ln w="0">
          <a:noFill/>
        </a:ln>
      </c:spPr>
    </c:title>
    <c:autoTitleDeleted val="0"/>
    <c:plotArea>
      <c:lineChart>
        <c:grouping val="standard"/>
        <c:varyColors val="0"/>
        <c:ser>
          <c:idx val="0"/>
          <c:order val="0"/>
          <c:tx>
            <c:strRef>
              <c:f>label 0</c:f>
              <c:strCache>
                <c:ptCount val="1"/>
                <c:pt idx="0">
                  <c:v>Monthly sales</c:v>
                </c:pt>
              </c:strCache>
            </c:strRef>
          </c:tx>
          <c:spPr>
            <a:solidFill>
              <a:srgbClr val="134e4a"/>
            </a:solidFill>
            <a:ln w="31680">
              <a:solidFill>
                <a:srgbClr val="134e4a"/>
              </a:solidFill>
              <a:round/>
            </a:ln>
          </c:spPr>
          <c:marker>
            <c:symbol val="none"/>
          </c:marker>
          <c:dLbls>
            <c:txPr>
              <a:bodyPr wrap="square"/>
              <a:lstStyle/>
              <a:p>
                <a:pPr>
                  <a:defRPr b="0" sz="1200" strike="noStrike" u="none">
                    <a:solidFill>
                      <a:srgbClr val="1b2b2a"/>
                    </a:solidFill>
                    <a:uFillTx/>
                    <a:latin typeface="Calibri"/>
                  </a:defRPr>
                </a:pPr>
              </a:p>
            </c:txPr>
            <c:dLblPos val="r"/>
            <c:showLegendKey val="0"/>
            <c:showVal val="0"/>
            <c:showCatName val="0"/>
            <c:showSerName val="0"/>
            <c:showPercent val="0"/>
            <c:separator>; </c:separator>
            <c:showLeaderLines val="0"/>
            <c:leaderLines>
              <c:spPr>
                <a:ln w="31680">
                  <a:solidFill>
                    <a:srgbClr val="000000"/>
                  </a:solidFill>
                </a:ln>
              </c:spPr>
            </c:leaderLines>
            <c:extLst>
              <c:ext xmlns:c15="http://schemas.microsoft.com/office/drawing/2012/chart" uri="{CE6537A1-D6FC-4f65-9D91-7224C49458BB}">
                <c15:showLeaderLines val="0"/>
              </c:ext>
            </c:extLst>
          </c:dLbls>
          <c:cat>
            <c:strRef>
              <c:f>categories</c:f>
              <c:strCache>
                <c:ptCount val="48"/>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pt idx="27">
                  <c:v>2016-04</c:v>
                </c:pt>
                <c:pt idx="28">
                  <c:v>2016-05</c:v>
                </c:pt>
                <c:pt idx="29">
                  <c:v>2016-06</c:v>
                </c:pt>
                <c:pt idx="30">
                  <c:v>2016-07</c:v>
                </c:pt>
                <c:pt idx="31">
                  <c:v>2016-08</c:v>
                </c:pt>
                <c:pt idx="32">
                  <c:v>2016-09</c:v>
                </c:pt>
                <c:pt idx="33">
                  <c:v>2016-10</c:v>
                </c:pt>
                <c:pt idx="34">
                  <c:v>2016-11</c:v>
                </c:pt>
                <c:pt idx="35">
                  <c:v>2016-12</c:v>
                </c:pt>
                <c:pt idx="36">
                  <c:v>2017-01</c:v>
                </c:pt>
                <c:pt idx="37">
                  <c:v>2017-02</c:v>
                </c:pt>
                <c:pt idx="38">
                  <c:v>2017-03</c:v>
                </c:pt>
                <c:pt idx="39">
                  <c:v>2017-04</c:v>
                </c:pt>
                <c:pt idx="40">
                  <c:v>2017-05</c:v>
                </c:pt>
                <c:pt idx="41">
                  <c:v>2017-06</c:v>
                </c:pt>
                <c:pt idx="42">
                  <c:v>2017-07</c:v>
                </c:pt>
                <c:pt idx="43">
                  <c:v>2017-08</c:v>
                </c:pt>
                <c:pt idx="44">
                  <c:v>2017-09</c:v>
                </c:pt>
                <c:pt idx="45">
                  <c:v>2017-10</c:v>
                </c:pt>
                <c:pt idx="46">
                  <c:v>2017-11</c:v>
                </c:pt>
                <c:pt idx="47">
                  <c:v>2017-12</c:v>
                </c:pt>
              </c:strCache>
            </c:strRef>
          </c:cat>
          <c:val>
            <c:numRef>
              <c:f>0</c:f>
              <c:numCache>
                <c:formatCode>General</c:formatCode>
                <c:ptCount val="48"/>
                <c:pt idx="0">
                  <c:v>14237</c:v>
                </c:pt>
                <c:pt idx="1">
                  <c:v>4520</c:v>
                </c:pt>
                <c:pt idx="2">
                  <c:v>55691</c:v>
                </c:pt>
                <c:pt idx="3">
                  <c:v>28014</c:v>
                </c:pt>
                <c:pt idx="4">
                  <c:v>23648</c:v>
                </c:pt>
                <c:pt idx="5">
                  <c:v>34595</c:v>
                </c:pt>
                <c:pt idx="6">
                  <c:v>33946</c:v>
                </c:pt>
                <c:pt idx="7">
                  <c:v>27909</c:v>
                </c:pt>
                <c:pt idx="8">
                  <c:v>81777</c:v>
                </c:pt>
                <c:pt idx="9">
                  <c:v>31453</c:v>
                </c:pt>
                <c:pt idx="10">
                  <c:v>78629</c:v>
                </c:pt>
                <c:pt idx="11">
                  <c:v>69546</c:v>
                </c:pt>
                <c:pt idx="12">
                  <c:v>18174</c:v>
                </c:pt>
                <c:pt idx="13">
                  <c:v>11951</c:v>
                </c:pt>
                <c:pt idx="14">
                  <c:v>38726</c:v>
                </c:pt>
                <c:pt idx="15">
                  <c:v>34195</c:v>
                </c:pt>
                <c:pt idx="16">
                  <c:v>30132</c:v>
                </c:pt>
                <c:pt idx="17">
                  <c:v>24797</c:v>
                </c:pt>
                <c:pt idx="18">
                  <c:v>28765</c:v>
                </c:pt>
                <c:pt idx="19">
                  <c:v>36898</c:v>
                </c:pt>
                <c:pt idx="20">
                  <c:v>64596</c:v>
                </c:pt>
                <c:pt idx="21">
                  <c:v>31405</c:v>
                </c:pt>
                <c:pt idx="22">
                  <c:v>75973</c:v>
                </c:pt>
                <c:pt idx="23">
                  <c:v>74920</c:v>
                </c:pt>
                <c:pt idx="24">
                  <c:v>18542</c:v>
                </c:pt>
                <c:pt idx="25">
                  <c:v>22979</c:v>
                </c:pt>
                <c:pt idx="26">
                  <c:v>51716</c:v>
                </c:pt>
                <c:pt idx="27">
                  <c:v>38750</c:v>
                </c:pt>
                <c:pt idx="28">
                  <c:v>56988</c:v>
                </c:pt>
                <c:pt idx="29">
                  <c:v>40345</c:v>
                </c:pt>
                <c:pt idx="30">
                  <c:v>39262</c:v>
                </c:pt>
                <c:pt idx="31">
                  <c:v>31115</c:v>
                </c:pt>
                <c:pt idx="32">
                  <c:v>73410</c:v>
                </c:pt>
                <c:pt idx="33">
                  <c:v>59688</c:v>
                </c:pt>
                <c:pt idx="34">
                  <c:v>79412</c:v>
                </c:pt>
                <c:pt idx="35">
                  <c:v>96999</c:v>
                </c:pt>
                <c:pt idx="36">
                  <c:v>43971</c:v>
                </c:pt>
                <c:pt idx="37">
                  <c:v>20301</c:v>
                </c:pt>
                <c:pt idx="38">
                  <c:v>58872</c:v>
                </c:pt>
                <c:pt idx="39">
                  <c:v>36522</c:v>
                </c:pt>
                <c:pt idx="40">
                  <c:v>44261</c:v>
                </c:pt>
                <c:pt idx="41">
                  <c:v>52982</c:v>
                </c:pt>
                <c:pt idx="42">
                  <c:v>45264</c:v>
                </c:pt>
                <c:pt idx="43">
                  <c:v>63121</c:v>
                </c:pt>
                <c:pt idx="44">
                  <c:v>87867</c:v>
                </c:pt>
                <c:pt idx="45">
                  <c:v>77777</c:v>
                </c:pt>
                <c:pt idx="46">
                  <c:v>118448</c:v>
                </c:pt>
                <c:pt idx="47">
                  <c:v>83829</c:v>
                </c:pt>
              </c:numCache>
            </c:numRef>
          </c:val>
          <c:smooth val="0"/>
        </c:ser>
        <c:hiLowLines>
          <c:spPr>
            <a:ln w="0">
              <a:noFill/>
            </a:ln>
          </c:spPr>
        </c:hiLowLines>
        <c:marker val="0"/>
        <c:axId val="42869016"/>
        <c:axId val="53380956"/>
      </c:lineChart>
      <c:catAx>
        <c:axId val="42869016"/>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trike="noStrike" u="none">
                <a:solidFill>
                  <a:srgbClr val="5b6770"/>
                </a:solidFill>
                <a:uFillTx/>
                <a:latin typeface="Calibri"/>
              </a:defRPr>
            </a:pPr>
          </a:p>
        </c:txPr>
        <c:crossAx val="53380956"/>
        <c:crosses val="autoZero"/>
        <c:auto val="1"/>
        <c:lblAlgn val="ctr"/>
        <c:lblOffset val="100"/>
        <c:noMultiLvlLbl val="0"/>
      </c:catAx>
      <c:valAx>
        <c:axId val="53380956"/>
        <c:scaling>
          <c:orientation val="minMax"/>
        </c:scaling>
        <c:delete val="0"/>
        <c:axPos val="l"/>
        <c:majorGridlines>
          <c:spPr>
            <a:ln w="9360">
              <a:solidFill>
                <a:srgbClr val="e3eae9"/>
              </a:solidFill>
              <a:round/>
            </a:ln>
          </c:spPr>
        </c:majorGridlines>
        <c:numFmt formatCode="\$#,##0" sourceLinked="0"/>
        <c:majorTickMark val="out"/>
        <c:minorTickMark val="none"/>
        <c:tickLblPos val="nextTo"/>
        <c:spPr>
          <a:ln w="12600">
            <a:solidFill>
              <a:srgbClr val="888888"/>
            </a:solidFill>
            <a:round/>
          </a:ln>
        </c:spPr>
        <c:txPr>
          <a:bodyPr/>
          <a:lstStyle/>
          <a:p>
            <a:pPr>
              <a:defRPr b="0" sz="1200" strike="noStrike" u="none">
                <a:solidFill>
                  <a:srgbClr val="5b6770"/>
                </a:solidFill>
                <a:uFillTx/>
                <a:latin typeface="Calibri"/>
              </a:defRPr>
            </a:pPr>
          </a:p>
        </c:txPr>
        <c:crossAx val="42869016"/>
        <c:crosses val="autoZero"/>
        <c:crossBetween val="between"/>
      </c:valAx>
      <c:spPr>
        <a:noFill/>
        <a:ln w="0">
          <a:noFill/>
        </a:ln>
      </c:spPr>
    </c:plotArea>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trike="noStrike" u="none">
                <a:solidFill>
                  <a:srgbClr val="000000"/>
                </a:solidFill>
                <a:uFillTx/>
                <a:latin typeface="Arial"/>
              </a:defRPr>
            </a:pPr>
            <a:r>
              <a:rPr b="0" sz="1400" strike="noStrike" u="none">
                <a:solidFill>
                  <a:srgbClr val="1b2b2a"/>
                </a:solidFill>
                <a:uFillTx/>
                <a:latin typeface="Calibri"/>
              </a:rPr>
              <a:t>Profit margin by region (%)</a:t>
            </a:r>
          </a:p>
        </c:rich>
      </c:tx>
      <c:overlay val="0"/>
      <c:spPr>
        <a:noFill/>
        <a:ln w="0">
          <a:noFill/>
        </a:ln>
      </c:spPr>
    </c:title>
    <c:autoTitleDeleted val="0"/>
    <c:plotArea>
      <c:barChart>
        <c:barDir val="col"/>
        <c:grouping val="clustered"/>
        <c:varyColors val="0"/>
        <c:ser>
          <c:idx val="0"/>
          <c:order val="0"/>
          <c:tx>
            <c:strRef>
              <c:f>label 0</c:f>
              <c:strCache>
                <c:ptCount val="1"/>
                <c:pt idx="0">
                  <c:v>Profit margin (%)</c:v>
                </c:pt>
              </c:strCache>
            </c:strRef>
          </c:tx>
          <c:spPr>
            <a:solidFill>
              <a:srgbClr val="134e4a"/>
            </a:solidFill>
            <a:ln w="0">
              <a:noFill/>
            </a:ln>
          </c:spPr>
          <c:invertIfNegative val="0"/>
          <c:dPt>
            <c:idx val="0"/>
            <c:invertIfNegative val="0"/>
            <c:spPr>
              <a:solidFill>
                <a:srgbClr val="134e4a"/>
              </a:solidFill>
              <a:ln w="0">
                <a:noFill/>
              </a:ln>
            </c:spPr>
          </c:dPt>
          <c:dPt>
            <c:idx val="1"/>
            <c:invertIfNegative val="0"/>
            <c:spPr>
              <a:solidFill>
                <a:srgbClr val="134e4a"/>
              </a:solidFill>
              <a:ln w="0">
                <a:noFill/>
              </a:ln>
            </c:spPr>
          </c:dPt>
          <c:dPt>
            <c:idx val="2"/>
            <c:invertIfNegative val="0"/>
            <c:spPr>
              <a:solidFill>
                <a:srgbClr val="e4572e"/>
              </a:solidFill>
              <a:ln w="0">
                <a:noFill/>
              </a:ln>
            </c:spPr>
          </c:dPt>
          <c:dPt>
            <c:idx val="3"/>
            <c:invertIfNegative val="0"/>
            <c:spPr>
              <a:solidFill>
                <a:srgbClr val="134e4a"/>
              </a:solidFill>
              <a:ln w="0">
                <a:noFill/>
              </a:ln>
            </c:spPr>
          </c:dPt>
          <c:dLbls>
            <c:numFmt formatCode="0.0\%" sourceLinked="0"/>
            <c:dLbl>
              <c:idx val="0"/>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dLbl>
              <c:idx val="1"/>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dLbl>
              <c:idx val="2"/>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dLbl>
              <c:idx val="3"/>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West</c:v>
                </c:pt>
                <c:pt idx="1">
                  <c:v>East</c:v>
                </c:pt>
                <c:pt idx="2">
                  <c:v>Central</c:v>
                </c:pt>
                <c:pt idx="3">
                  <c:v>South</c:v>
                </c:pt>
              </c:strCache>
            </c:strRef>
          </c:cat>
          <c:val>
            <c:numRef>
              <c:f>0</c:f>
              <c:numCache>
                <c:formatCode>General</c:formatCode>
                <c:ptCount val="4"/>
                <c:pt idx="0">
                  <c:v>14.9</c:v>
                </c:pt>
                <c:pt idx="1">
                  <c:v>13.5</c:v>
                </c:pt>
                <c:pt idx="2">
                  <c:v>7.9</c:v>
                </c:pt>
                <c:pt idx="3">
                  <c:v>11.9</c:v>
                </c:pt>
              </c:numCache>
            </c:numRef>
          </c:val>
        </c:ser>
        <c:gapWidth val="60"/>
        <c:overlap val="0"/>
        <c:axId val="45938982"/>
        <c:axId val="97100217"/>
      </c:barChart>
      <c:catAx>
        <c:axId val="45938982"/>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trike="noStrike" u="none">
                <a:solidFill>
                  <a:srgbClr val="5b6770"/>
                </a:solidFill>
                <a:uFillTx/>
                <a:latin typeface="Calibri"/>
              </a:defRPr>
            </a:pPr>
          </a:p>
        </c:txPr>
        <c:crossAx val="97100217"/>
        <c:crosses val="autoZero"/>
        <c:auto val="1"/>
        <c:lblAlgn val="ctr"/>
        <c:lblOffset val="100"/>
        <c:noMultiLvlLbl val="0"/>
      </c:catAx>
      <c:valAx>
        <c:axId val="97100217"/>
        <c:scaling>
          <c:orientation val="minMax"/>
          <c:min val="0"/>
        </c:scaling>
        <c:delete val="0"/>
        <c:axPos val="l"/>
        <c:majorGridlines>
          <c:spPr>
            <a:ln w="9360">
              <a:solidFill>
                <a:srgbClr val="e3eae9"/>
              </a:solidFill>
              <a:round/>
            </a:ln>
          </c:spPr>
        </c:majorGridlines>
        <c:numFmt formatCode="0\%" sourceLinked="0"/>
        <c:majorTickMark val="out"/>
        <c:minorTickMark val="none"/>
        <c:tickLblPos val="nextTo"/>
        <c:spPr>
          <a:ln w="12600">
            <a:solidFill>
              <a:srgbClr val="888888"/>
            </a:solidFill>
            <a:round/>
          </a:ln>
        </c:spPr>
        <c:txPr>
          <a:bodyPr/>
          <a:lstStyle/>
          <a:p>
            <a:pPr>
              <a:defRPr b="0" sz="1200" strike="noStrike" u="none">
                <a:solidFill>
                  <a:srgbClr val="5b6770"/>
                </a:solidFill>
                <a:uFillTx/>
                <a:latin typeface="Calibri"/>
              </a:defRPr>
            </a:pPr>
          </a:p>
        </c:txPr>
        <c:crossAx val="45938982"/>
        <c:crosses val="autoZero"/>
        <c:crossBetween val="between"/>
      </c:valAx>
      <c:spPr>
        <a:noFill/>
        <a:ln w="0">
          <a:noFill/>
        </a:ln>
      </c:spPr>
    </c:plotArea>
    <c:plotVisOnly val="1"/>
    <c:dispBlanksAs val="span"/>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trike="noStrike" u="none">
                <a:solidFill>
                  <a:srgbClr val="000000"/>
                </a:solidFill>
                <a:uFillTx/>
                <a:latin typeface="Arial"/>
              </a:defRPr>
            </a:pPr>
            <a:r>
              <a:rPr b="0" sz="1400" strike="noStrike" u="none">
                <a:solidFill>
                  <a:srgbClr val="1b2b2a"/>
                </a:solidFill>
                <a:uFillTx/>
                <a:latin typeface="Calibri"/>
              </a:rPr>
              <a:t>Sales and profit by category (USD)</a:t>
            </a:r>
          </a:p>
        </c:rich>
      </c:tx>
      <c:overlay val="0"/>
      <c:spPr>
        <a:noFill/>
        <a:ln w="0">
          <a:noFill/>
        </a:ln>
      </c:spPr>
    </c:title>
    <c:autoTitleDeleted val="0"/>
    <c:plotArea>
      <c:barChart>
        <c:barDir val="col"/>
        <c:grouping val="clustered"/>
        <c:varyColors val="0"/>
        <c:ser>
          <c:idx val="0"/>
          <c:order val="0"/>
          <c:tx>
            <c:strRef>
              <c:f>label 0</c:f>
              <c:strCache>
                <c:ptCount val="1"/>
                <c:pt idx="0">
                  <c:v>Sales</c:v>
                </c:pt>
              </c:strCache>
            </c:strRef>
          </c:tx>
          <c:spPr>
            <a:solidFill>
              <a:srgbClr val="134e4a"/>
            </a:solidFill>
            <a:ln w="0">
              <a:noFill/>
            </a:ln>
          </c:spPr>
          <c:invertIfNegative val="0"/>
          <c:dLbls>
            <c:numFmt formatCode="\$#,##0,\K"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Technology</c:v>
                </c:pt>
                <c:pt idx="1">
                  <c:v>Furniture</c:v>
                </c:pt>
                <c:pt idx="2">
                  <c:v>Office Supplies</c:v>
                </c:pt>
              </c:strCache>
            </c:strRef>
          </c:cat>
          <c:val>
            <c:numRef>
              <c:f>0</c:f>
              <c:numCache>
                <c:formatCode>General</c:formatCode>
                <c:ptCount val="3"/>
                <c:pt idx="0">
                  <c:v>836154</c:v>
                </c:pt>
                <c:pt idx="1">
                  <c:v>741718</c:v>
                </c:pt>
                <c:pt idx="2">
                  <c:v>719047</c:v>
                </c:pt>
              </c:numCache>
            </c:numRef>
          </c:val>
        </c:ser>
        <c:ser>
          <c:idx val="1"/>
          <c:order val="1"/>
          <c:tx>
            <c:strRef>
              <c:f>label 1</c:f>
              <c:strCache>
                <c:ptCount val="1"/>
                <c:pt idx="0">
                  <c:v>Profit</c:v>
                </c:pt>
              </c:strCache>
            </c:strRef>
          </c:tx>
          <c:spPr>
            <a:solidFill>
              <a:srgbClr val="e4572e"/>
            </a:solidFill>
            <a:ln w="0">
              <a:noFill/>
            </a:ln>
          </c:spPr>
          <c:invertIfNegative val="0"/>
          <c:dLbls>
            <c:numFmt formatCode="\$#,##0,\K"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Technology</c:v>
                </c:pt>
                <c:pt idx="1">
                  <c:v>Furniture</c:v>
                </c:pt>
                <c:pt idx="2">
                  <c:v>Office Supplies</c:v>
                </c:pt>
              </c:strCache>
            </c:strRef>
          </c:cat>
          <c:val>
            <c:numRef>
              <c:f>1</c:f>
              <c:numCache>
                <c:formatCode>General</c:formatCode>
                <c:ptCount val="3"/>
                <c:pt idx="0">
                  <c:v>145455</c:v>
                </c:pt>
                <c:pt idx="1">
                  <c:v>18463</c:v>
                </c:pt>
                <c:pt idx="2">
                  <c:v>122491</c:v>
                </c:pt>
              </c:numCache>
            </c:numRef>
          </c:val>
        </c:ser>
        <c:gapWidth val="50"/>
        <c:overlap val="0"/>
        <c:axId val="32436906"/>
        <c:axId val="85640394"/>
      </c:barChart>
      <c:catAx>
        <c:axId val="32436906"/>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trike="noStrike" u="none">
                <a:solidFill>
                  <a:srgbClr val="5b6770"/>
                </a:solidFill>
                <a:uFillTx/>
                <a:latin typeface="Calibri"/>
              </a:defRPr>
            </a:pPr>
          </a:p>
        </c:txPr>
        <c:crossAx val="85640394"/>
        <c:crosses val="autoZero"/>
        <c:auto val="1"/>
        <c:lblAlgn val="ctr"/>
        <c:lblOffset val="100"/>
        <c:noMultiLvlLbl val="0"/>
      </c:catAx>
      <c:valAx>
        <c:axId val="85640394"/>
        <c:scaling>
          <c:orientation val="minMax"/>
        </c:scaling>
        <c:delete val="0"/>
        <c:axPos val="l"/>
        <c:majorGridlines>
          <c:spPr>
            <a:ln w="9360">
              <a:solidFill>
                <a:srgbClr val="e3eae9"/>
              </a:solidFill>
              <a:round/>
            </a:ln>
          </c:spPr>
        </c:majorGridlines>
        <c:numFmt formatCode="\$#,##0,\K" sourceLinked="0"/>
        <c:majorTickMark val="out"/>
        <c:minorTickMark val="none"/>
        <c:tickLblPos val="nextTo"/>
        <c:spPr>
          <a:ln w="12600">
            <a:solidFill>
              <a:srgbClr val="888888"/>
            </a:solidFill>
            <a:round/>
          </a:ln>
        </c:spPr>
        <c:txPr>
          <a:bodyPr/>
          <a:lstStyle/>
          <a:p>
            <a:pPr>
              <a:defRPr b="0" sz="1200" strike="noStrike" u="none">
                <a:solidFill>
                  <a:srgbClr val="5b6770"/>
                </a:solidFill>
                <a:uFillTx/>
                <a:latin typeface="Calibri"/>
              </a:defRPr>
            </a:pPr>
          </a:p>
        </c:txPr>
        <c:crossAx val="32436906"/>
        <c:crosses val="autoZero"/>
        <c:crossBetween val="between"/>
      </c:valAx>
      <c:spPr>
        <a:noFill/>
        <a:ln w="0">
          <a:noFill/>
        </a:ln>
      </c:spPr>
    </c:plotArea>
    <c:legend>
      <c:legendPos val="b"/>
      <c:overlay val="0"/>
      <c:spPr>
        <a:noFill/>
        <a:ln w="0">
          <a:noFill/>
        </a:ln>
      </c:spPr>
      <c:txPr>
        <a:bodyPr/>
        <a:lstStyle/>
        <a:p>
          <a:pPr>
            <a:defRPr b="0" sz="1200" strike="noStrike" u="none">
              <a:solidFill>
                <a:srgbClr val="1b2b2a"/>
              </a:solidFill>
              <a:uFillTx/>
              <a:latin typeface="Calibri"/>
            </a:defRPr>
          </a:pPr>
        </a:p>
      </c:txPr>
    </c:legend>
    <c:plotVisOnly val="1"/>
    <c:dispBlanksAs val="span"/>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trike="noStrike" u="none">
                <a:solidFill>
                  <a:srgbClr val="000000"/>
                </a:solidFill>
                <a:uFillTx/>
                <a:latin typeface="Arial"/>
              </a:defRPr>
            </a:pPr>
            <a:r>
              <a:rPr b="0" sz="1400" strike="noStrike" u="none">
                <a:solidFill>
                  <a:srgbClr val="1b2b2a"/>
                </a:solidFill>
                <a:uFillTx/>
                <a:latin typeface="Calibri"/>
              </a:rPr>
              <a:t>Profit margin (%) by discount band</a:t>
            </a:r>
          </a:p>
        </c:rich>
      </c:tx>
      <c:overlay val="0"/>
      <c:spPr>
        <a:noFill/>
        <a:ln w="0">
          <a:noFill/>
        </a:ln>
      </c:spPr>
    </c:title>
    <c:autoTitleDeleted val="0"/>
    <c:plotArea>
      <c:barChart>
        <c:barDir val="col"/>
        <c:grouping val="clustered"/>
        <c:varyColors val="0"/>
        <c:ser>
          <c:idx val="0"/>
          <c:order val="0"/>
          <c:tx>
            <c:strRef>
              <c:f>label 0</c:f>
              <c:strCache>
                <c:ptCount val="1"/>
                <c:pt idx="0">
                  <c:v>Profit margin (%)</c:v>
                </c:pt>
              </c:strCache>
            </c:strRef>
          </c:tx>
          <c:spPr>
            <a:solidFill>
              <a:srgbClr val="134e4a"/>
            </a:solidFill>
            <a:ln w="0">
              <a:noFill/>
            </a:ln>
          </c:spPr>
          <c:invertIfNegative val="0"/>
          <c:dPt>
            <c:idx val="0"/>
            <c:invertIfNegative val="0"/>
            <c:spPr>
              <a:solidFill>
                <a:srgbClr val="134e4a"/>
              </a:solidFill>
              <a:ln w="0">
                <a:noFill/>
              </a:ln>
            </c:spPr>
          </c:dPt>
          <c:dPt>
            <c:idx val="1"/>
            <c:invertIfNegative val="0"/>
            <c:spPr>
              <a:solidFill>
                <a:srgbClr val="134e4a"/>
              </a:solidFill>
              <a:ln w="0">
                <a:noFill/>
              </a:ln>
            </c:spPr>
          </c:dPt>
          <c:dPt>
            <c:idx val="2"/>
            <c:invertIfNegative val="0"/>
            <c:spPr>
              <a:solidFill>
                <a:srgbClr val="134e4a"/>
              </a:solidFill>
              <a:ln w="0">
                <a:noFill/>
              </a:ln>
            </c:spPr>
          </c:dPt>
          <c:dPt>
            <c:idx val="3"/>
            <c:invertIfNegative val="0"/>
            <c:spPr>
              <a:solidFill>
                <a:srgbClr val="e4572e"/>
              </a:solidFill>
              <a:ln w="0">
                <a:noFill/>
              </a:ln>
            </c:spPr>
          </c:dPt>
          <c:dPt>
            <c:idx val="4"/>
            <c:invertIfNegative val="0"/>
            <c:spPr>
              <a:solidFill>
                <a:srgbClr val="e4572e"/>
              </a:solidFill>
              <a:ln w="0">
                <a:noFill/>
              </a:ln>
            </c:spPr>
          </c:dPt>
          <c:dPt>
            <c:idx val="5"/>
            <c:invertIfNegative val="0"/>
            <c:spPr>
              <a:solidFill>
                <a:srgbClr val="e4572e"/>
              </a:solidFill>
              <a:ln w="0">
                <a:noFill/>
              </a:ln>
            </c:spPr>
          </c:dPt>
          <c:dPt>
            <c:idx val="6"/>
            <c:invertIfNegative val="0"/>
            <c:spPr>
              <a:solidFill>
                <a:srgbClr val="e4572e"/>
              </a:solidFill>
              <a:ln w="0">
                <a:noFill/>
              </a:ln>
            </c:spPr>
          </c:dPt>
          <c:dLbls>
            <c:numFmt formatCode="0.0\%" sourceLinked="0"/>
            <c:dLbl>
              <c:idx val="0"/>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dLbl>
              <c:idx val="1"/>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dLbl>
              <c:idx val="2"/>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dLbl>
              <c:idx val="3"/>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dLbl>
              <c:idx val="4"/>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dLbl>
              <c:idx val="5"/>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dLbl>
              <c:idx val="6"/>
              <c:numFmt formatCode="0.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dLbl>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7"/>
                <c:pt idx="0">
                  <c:v>0%</c:v>
                </c:pt>
                <c:pt idx="1">
                  <c:v>1-10%</c:v>
                </c:pt>
                <c:pt idx="2">
                  <c:v>11-20%</c:v>
                </c:pt>
                <c:pt idx="3">
                  <c:v>21-30%</c:v>
                </c:pt>
                <c:pt idx="4">
                  <c:v>31-40%</c:v>
                </c:pt>
                <c:pt idx="5">
                  <c:v>41-50%</c:v>
                </c:pt>
                <c:pt idx="6">
                  <c:v>51-80%</c:v>
                </c:pt>
              </c:strCache>
            </c:strRef>
          </c:cat>
          <c:val>
            <c:numRef>
              <c:f>0</c:f>
              <c:numCache>
                <c:formatCode>General</c:formatCode>
                <c:ptCount val="7"/>
                <c:pt idx="0">
                  <c:v>29.5</c:v>
                </c:pt>
                <c:pt idx="1">
                  <c:v>16.6</c:v>
                </c:pt>
                <c:pt idx="2">
                  <c:v>11.6</c:v>
                </c:pt>
                <c:pt idx="3">
                  <c:v>-10.1</c:v>
                </c:pt>
                <c:pt idx="4">
                  <c:v>-19.4</c:v>
                </c:pt>
                <c:pt idx="5">
                  <c:v>-35.7</c:v>
                </c:pt>
                <c:pt idx="6">
                  <c:v>-119.2</c:v>
                </c:pt>
              </c:numCache>
            </c:numRef>
          </c:val>
        </c:ser>
        <c:gapWidth val="45"/>
        <c:overlap val="0"/>
        <c:axId val="99688521"/>
        <c:axId val="25733982"/>
      </c:barChart>
      <c:catAx>
        <c:axId val="99688521"/>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trike="noStrike" u="none">
                <a:solidFill>
                  <a:srgbClr val="5b6770"/>
                </a:solidFill>
                <a:uFillTx/>
                <a:latin typeface="Calibri"/>
              </a:defRPr>
            </a:pPr>
          </a:p>
        </c:txPr>
        <c:crossAx val="25733982"/>
        <c:crosses val="autoZero"/>
        <c:auto val="1"/>
        <c:lblAlgn val="ctr"/>
        <c:lblOffset val="100"/>
        <c:noMultiLvlLbl val="0"/>
      </c:catAx>
      <c:valAx>
        <c:axId val="25733982"/>
        <c:scaling>
          <c:orientation val="minMax"/>
        </c:scaling>
        <c:delete val="0"/>
        <c:axPos val="l"/>
        <c:majorGridlines>
          <c:spPr>
            <a:ln w="9360">
              <a:solidFill>
                <a:srgbClr val="e3eae9"/>
              </a:solidFill>
              <a:round/>
            </a:ln>
          </c:spPr>
        </c:majorGridlines>
        <c:numFmt formatCode="0\%" sourceLinked="0"/>
        <c:majorTickMark val="out"/>
        <c:minorTickMark val="none"/>
        <c:tickLblPos val="nextTo"/>
        <c:spPr>
          <a:ln w="12600">
            <a:solidFill>
              <a:srgbClr val="888888"/>
            </a:solidFill>
            <a:round/>
          </a:ln>
        </c:spPr>
        <c:txPr>
          <a:bodyPr/>
          <a:lstStyle/>
          <a:p>
            <a:pPr>
              <a:defRPr b="0" sz="1200" strike="noStrike" u="none">
                <a:solidFill>
                  <a:srgbClr val="5b6770"/>
                </a:solidFill>
                <a:uFillTx/>
                <a:latin typeface="Calibri"/>
              </a:defRPr>
            </a:pPr>
          </a:p>
        </c:txPr>
        <c:crossAx val="99688521"/>
        <c:crosses val="autoZero"/>
        <c:crossBetween val="between"/>
      </c:valAx>
      <c:spPr>
        <a:noFill/>
        <a:ln w="0">
          <a:noFill/>
        </a:ln>
      </c:spPr>
    </c:plotArea>
    <c:plotVisOnly val="1"/>
    <c:dispBlanksAs val="span"/>
  </c:chart>
  <c:spPr>
    <a:no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trike="noStrike" u="none">
                <a:solidFill>
                  <a:srgbClr val="000000"/>
                </a:solidFill>
                <a:uFillTx/>
                <a:latin typeface="Arial"/>
              </a:defRPr>
            </a:pPr>
            <a:r>
              <a:rPr b="0" sz="1400" strike="noStrike" u="none">
                <a:solidFill>
                  <a:srgbClr val="1b2b2a"/>
                </a:solidFill>
                <a:uFillTx/>
                <a:latin typeface="Calibri"/>
              </a:rPr>
              <a:t>Share of total sales and profit by product group (%)</a:t>
            </a:r>
          </a:p>
        </c:rich>
      </c:tx>
      <c:overlay val="0"/>
      <c:spPr>
        <a:noFill/>
        <a:ln w="0">
          <a:noFill/>
        </a:ln>
      </c:spPr>
    </c:title>
    <c:autoTitleDeleted val="0"/>
    <c:plotArea>
      <c:barChart>
        <c:barDir val="bar"/>
        <c:grouping val="clustered"/>
        <c:varyColors val="0"/>
        <c:ser>
          <c:idx val="0"/>
          <c:order val="0"/>
          <c:tx>
            <c:strRef>
              <c:f>label 0</c:f>
              <c:strCache>
                <c:ptCount val="1"/>
                <c:pt idx="0">
                  <c:v>% of sales</c:v>
                </c:pt>
              </c:strCache>
            </c:strRef>
          </c:tx>
          <c:spPr>
            <a:solidFill>
              <a:srgbClr val="134e4a"/>
            </a:solidFill>
            <a:ln w="0">
              <a:noFill/>
            </a:ln>
          </c:spPr>
          <c:invertIfNegative val="0"/>
          <c:dLbls>
            <c:numFmt formatCode="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High sales / High profit</c:v>
                </c:pt>
                <c:pt idx="1">
                  <c:v>High sales / Low profit</c:v>
                </c:pt>
                <c:pt idx="2">
                  <c:v>Low sales / High profit</c:v>
                </c:pt>
                <c:pt idx="3">
                  <c:v>Low sales / Low profit</c:v>
                </c:pt>
              </c:strCache>
            </c:strRef>
          </c:cat>
          <c:val>
            <c:numRef>
              <c:f>0</c:f>
              <c:numCache>
                <c:formatCode>General</c:formatCode>
                <c:ptCount val="4"/>
                <c:pt idx="0">
                  <c:v>68.5</c:v>
                </c:pt>
                <c:pt idx="1">
                  <c:v>26.7</c:v>
                </c:pt>
                <c:pt idx="2">
                  <c:v>2.1</c:v>
                </c:pt>
                <c:pt idx="3">
                  <c:v>2.7</c:v>
                </c:pt>
              </c:numCache>
            </c:numRef>
          </c:val>
        </c:ser>
        <c:ser>
          <c:idx val="1"/>
          <c:order val="1"/>
          <c:tx>
            <c:strRef>
              <c:f>label 1</c:f>
              <c:strCache>
                <c:ptCount val="1"/>
                <c:pt idx="0">
                  <c:v>% of profit</c:v>
                </c:pt>
              </c:strCache>
            </c:strRef>
          </c:tx>
          <c:spPr>
            <a:solidFill>
              <a:srgbClr val="e4572e"/>
            </a:solidFill>
            <a:ln w="0">
              <a:noFill/>
            </a:ln>
          </c:spPr>
          <c:invertIfNegative val="0"/>
          <c:dLbls>
            <c:numFmt formatCode="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High sales / High profit</c:v>
                </c:pt>
                <c:pt idx="1">
                  <c:v>High sales / Low profit</c:v>
                </c:pt>
                <c:pt idx="2">
                  <c:v>Low sales / High profit</c:v>
                </c:pt>
                <c:pt idx="3">
                  <c:v>Low sales / Low profit</c:v>
                </c:pt>
              </c:strCache>
            </c:strRef>
          </c:cat>
          <c:val>
            <c:numRef>
              <c:f>1</c:f>
              <c:numCache>
                <c:formatCode>General</c:formatCode>
                <c:ptCount val="4"/>
                <c:pt idx="0">
                  <c:v>116.2</c:v>
                </c:pt>
                <c:pt idx="1">
                  <c:v>-25.4</c:v>
                </c:pt>
                <c:pt idx="2">
                  <c:v>6.2</c:v>
                </c:pt>
                <c:pt idx="3">
                  <c:v>3</c:v>
                </c:pt>
              </c:numCache>
            </c:numRef>
          </c:val>
        </c:ser>
        <c:gapWidth val="40"/>
        <c:overlap val="0"/>
        <c:axId val="58515922"/>
        <c:axId val="72814028"/>
      </c:barChart>
      <c:catAx>
        <c:axId val="58515922"/>
        <c:scaling>
          <c:orientation val="maxMin"/>
        </c:scaling>
        <c:delete val="0"/>
        <c:axPos val="b"/>
        <c:numFmt formatCode="General" sourceLinked="0"/>
        <c:majorTickMark val="out"/>
        <c:minorTickMark val="none"/>
        <c:tickLblPos val="low"/>
        <c:spPr>
          <a:ln w="12600">
            <a:solidFill>
              <a:srgbClr val="888888"/>
            </a:solidFill>
            <a:round/>
          </a:ln>
        </c:spPr>
        <c:txPr>
          <a:bodyPr/>
          <a:lstStyle/>
          <a:p>
            <a:pPr>
              <a:defRPr b="0" sz="1200" strike="noStrike" u="none">
                <a:solidFill>
                  <a:srgbClr val="5b6770"/>
                </a:solidFill>
                <a:uFillTx/>
                <a:latin typeface="Calibri"/>
              </a:defRPr>
            </a:pPr>
          </a:p>
        </c:txPr>
        <c:crossAx val="72814028"/>
        <c:crosses val="autoZero"/>
        <c:auto val="1"/>
        <c:lblAlgn val="ctr"/>
        <c:lblOffset val="100"/>
        <c:noMultiLvlLbl val="0"/>
      </c:catAx>
      <c:valAx>
        <c:axId val="72814028"/>
        <c:scaling>
          <c:orientation val="minMax"/>
        </c:scaling>
        <c:delete val="0"/>
        <c:axPos val="l"/>
        <c:majorGridlines>
          <c:spPr>
            <a:ln w="9360">
              <a:solidFill>
                <a:srgbClr val="e3eae9"/>
              </a:solidFill>
              <a:round/>
            </a:ln>
          </c:spPr>
        </c:majorGridlines>
        <c:numFmt formatCode="0\%" sourceLinked="0"/>
        <c:majorTickMark val="out"/>
        <c:minorTickMark val="none"/>
        <c:tickLblPos val="low"/>
        <c:spPr>
          <a:ln w="12600">
            <a:solidFill>
              <a:srgbClr val="888888"/>
            </a:solidFill>
            <a:round/>
          </a:ln>
        </c:spPr>
        <c:txPr>
          <a:bodyPr/>
          <a:lstStyle/>
          <a:p>
            <a:pPr>
              <a:defRPr b="0" sz="1200" strike="noStrike" u="none">
                <a:solidFill>
                  <a:srgbClr val="5b6770"/>
                </a:solidFill>
                <a:uFillTx/>
                <a:latin typeface="Calibri"/>
              </a:defRPr>
            </a:pPr>
          </a:p>
        </c:txPr>
        <c:crossAx val="58515922"/>
        <c:crosses val="autoZero"/>
        <c:crossBetween val="between"/>
      </c:valAx>
      <c:spPr>
        <a:noFill/>
        <a:ln w="0">
          <a:noFill/>
        </a:ln>
      </c:spPr>
    </c:plotArea>
    <c:legend>
      <c:legendPos val="b"/>
      <c:overlay val="0"/>
      <c:spPr>
        <a:noFill/>
        <a:ln w="0">
          <a:noFill/>
        </a:ln>
      </c:spPr>
      <c:txPr>
        <a:bodyPr/>
        <a:lstStyle/>
        <a:p>
          <a:pPr>
            <a:defRPr b="0" sz="1200" strike="noStrike" u="none">
              <a:solidFill>
                <a:srgbClr val="1b2b2a"/>
              </a:solidFill>
              <a:uFillTx/>
              <a:latin typeface="Calibri"/>
            </a:defRPr>
          </a:pPr>
        </a:p>
      </c:txPr>
    </c:legend>
    <c:plotVisOnly val="1"/>
    <c:dispBlanksAs val="span"/>
  </c:chart>
  <c:spPr>
    <a:noFill/>
    <a:ln w="0">
      <a:noFill/>
    </a:ln>
  </c:spPr>
</c:chartSpace>
</file>

<file path=ppt/charts/chart6.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trike="noStrike" u="none">
                <a:solidFill>
                  <a:srgbClr val="000000"/>
                </a:solidFill>
                <a:uFillTx/>
                <a:latin typeface="Arial"/>
              </a:defRPr>
            </a:pPr>
            <a:r>
              <a:rPr b="0" sz="1400" strike="noStrike" u="none">
                <a:solidFill>
                  <a:srgbClr val="1b2b2a"/>
                </a:solidFill>
                <a:uFillTx/>
                <a:latin typeface="Calibri"/>
              </a:rPr>
              <a:t>Customer segments: share of customers, sales and profit (%)</a:t>
            </a:r>
          </a:p>
        </c:rich>
      </c:tx>
      <c:overlay val="0"/>
      <c:spPr>
        <a:noFill/>
        <a:ln w="0">
          <a:noFill/>
        </a:ln>
      </c:spPr>
    </c:title>
    <c:autoTitleDeleted val="0"/>
    <c:plotArea>
      <c:barChart>
        <c:barDir val="col"/>
        <c:grouping val="clustered"/>
        <c:varyColors val="0"/>
        <c:ser>
          <c:idx val="0"/>
          <c:order val="0"/>
          <c:tx>
            <c:strRef>
              <c:f>label 0</c:f>
              <c:strCache>
                <c:ptCount val="1"/>
                <c:pt idx="0">
                  <c:v>% of customers</c:v>
                </c:pt>
              </c:strCache>
            </c:strRef>
          </c:tx>
          <c:spPr>
            <a:solidFill>
              <a:srgbClr val="5b6770"/>
            </a:solidFill>
            <a:ln w="0">
              <a:noFill/>
            </a:ln>
          </c:spPr>
          <c:invertIfNegative val="0"/>
          <c:dLbls>
            <c:numFmt formatCode="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High-Value</c:v>
                </c:pt>
                <c:pt idx="1">
                  <c:v>Medium-Value</c:v>
                </c:pt>
                <c:pt idx="2">
                  <c:v>Low-Value</c:v>
                </c:pt>
              </c:strCache>
            </c:strRef>
          </c:cat>
          <c:val>
            <c:numRef>
              <c:f>0</c:f>
              <c:numCache>
                <c:formatCode>General</c:formatCode>
                <c:ptCount val="3"/>
                <c:pt idx="0">
                  <c:v>21.8</c:v>
                </c:pt>
                <c:pt idx="1">
                  <c:v>53.1</c:v>
                </c:pt>
                <c:pt idx="2">
                  <c:v>25.1</c:v>
                </c:pt>
              </c:numCache>
            </c:numRef>
          </c:val>
        </c:ser>
        <c:ser>
          <c:idx val="1"/>
          <c:order val="1"/>
          <c:tx>
            <c:strRef>
              <c:f>label 1</c:f>
              <c:strCache>
                <c:ptCount val="1"/>
                <c:pt idx="0">
                  <c:v>% of sales</c:v>
                </c:pt>
              </c:strCache>
            </c:strRef>
          </c:tx>
          <c:spPr>
            <a:solidFill>
              <a:srgbClr val="134e4a"/>
            </a:solidFill>
            <a:ln w="0">
              <a:noFill/>
            </a:ln>
          </c:spPr>
          <c:invertIfNegative val="0"/>
          <c:dLbls>
            <c:numFmt formatCode="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High-Value</c:v>
                </c:pt>
                <c:pt idx="1">
                  <c:v>Medium-Value</c:v>
                </c:pt>
                <c:pt idx="2">
                  <c:v>Low-Value</c:v>
                </c:pt>
              </c:strCache>
            </c:strRef>
          </c:cat>
          <c:val>
            <c:numRef>
              <c:f>1</c:f>
              <c:numCache>
                <c:formatCode>General</c:formatCode>
                <c:ptCount val="3"/>
                <c:pt idx="0">
                  <c:v>47.4</c:v>
                </c:pt>
                <c:pt idx="1">
                  <c:v>47.1</c:v>
                </c:pt>
                <c:pt idx="2">
                  <c:v>5.5</c:v>
                </c:pt>
              </c:numCache>
            </c:numRef>
          </c:val>
        </c:ser>
        <c:ser>
          <c:idx val="2"/>
          <c:order val="2"/>
          <c:tx>
            <c:strRef>
              <c:f>label 2</c:f>
              <c:strCache>
                <c:ptCount val="1"/>
                <c:pt idx="0">
                  <c:v>% of profit</c:v>
                </c:pt>
              </c:strCache>
            </c:strRef>
          </c:tx>
          <c:spPr>
            <a:solidFill>
              <a:srgbClr val="e4572e"/>
            </a:solidFill>
            <a:ln w="0">
              <a:noFill/>
            </a:ln>
          </c:spPr>
          <c:invertIfNegative val="0"/>
          <c:dLbls>
            <c:numFmt formatCode="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High-Value</c:v>
                </c:pt>
                <c:pt idx="1">
                  <c:v>Medium-Value</c:v>
                </c:pt>
                <c:pt idx="2">
                  <c:v>Low-Value</c:v>
                </c:pt>
              </c:strCache>
            </c:strRef>
          </c:cat>
          <c:val>
            <c:numRef>
              <c:f>2</c:f>
              <c:numCache>
                <c:formatCode>General</c:formatCode>
                <c:ptCount val="3"/>
                <c:pt idx="0">
                  <c:v>78</c:v>
                </c:pt>
                <c:pt idx="1">
                  <c:v>17.3</c:v>
                </c:pt>
                <c:pt idx="2">
                  <c:v>4.8</c:v>
                </c:pt>
              </c:numCache>
            </c:numRef>
          </c:val>
        </c:ser>
        <c:gapWidth val="40"/>
        <c:overlap val="0"/>
        <c:axId val="42707059"/>
        <c:axId val="87524888"/>
      </c:barChart>
      <c:catAx>
        <c:axId val="42707059"/>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trike="noStrike" u="none">
                <a:solidFill>
                  <a:srgbClr val="5b6770"/>
                </a:solidFill>
                <a:uFillTx/>
                <a:latin typeface="Calibri"/>
              </a:defRPr>
            </a:pPr>
          </a:p>
        </c:txPr>
        <c:crossAx val="87524888"/>
        <c:crosses val="autoZero"/>
        <c:auto val="1"/>
        <c:lblAlgn val="ctr"/>
        <c:lblOffset val="100"/>
        <c:noMultiLvlLbl val="0"/>
      </c:catAx>
      <c:valAx>
        <c:axId val="87524888"/>
        <c:scaling>
          <c:orientation val="minMax"/>
        </c:scaling>
        <c:delete val="0"/>
        <c:axPos val="l"/>
        <c:majorGridlines>
          <c:spPr>
            <a:ln w="9360">
              <a:solidFill>
                <a:srgbClr val="e3eae9"/>
              </a:solidFill>
              <a:round/>
            </a:ln>
          </c:spPr>
        </c:majorGridlines>
        <c:numFmt formatCode="0\%" sourceLinked="0"/>
        <c:majorTickMark val="out"/>
        <c:minorTickMark val="none"/>
        <c:tickLblPos val="nextTo"/>
        <c:spPr>
          <a:ln w="12600">
            <a:solidFill>
              <a:srgbClr val="888888"/>
            </a:solidFill>
            <a:round/>
          </a:ln>
        </c:spPr>
        <c:txPr>
          <a:bodyPr/>
          <a:lstStyle/>
          <a:p>
            <a:pPr>
              <a:defRPr b="0" sz="1200" strike="noStrike" u="none">
                <a:solidFill>
                  <a:srgbClr val="5b6770"/>
                </a:solidFill>
                <a:uFillTx/>
                <a:latin typeface="Calibri"/>
              </a:defRPr>
            </a:pPr>
          </a:p>
        </c:txPr>
        <c:crossAx val="42707059"/>
        <c:crosses val="autoZero"/>
        <c:crossBetween val="between"/>
      </c:valAx>
      <c:spPr>
        <a:noFill/>
        <a:ln w="0">
          <a:noFill/>
        </a:ln>
      </c:spPr>
    </c:plotArea>
    <c:legend>
      <c:legendPos val="b"/>
      <c:overlay val="0"/>
      <c:spPr>
        <a:noFill/>
        <a:ln w="0">
          <a:noFill/>
        </a:ln>
      </c:spPr>
      <c:txPr>
        <a:bodyPr/>
        <a:lstStyle/>
        <a:p>
          <a:pPr>
            <a:defRPr b="0" sz="1200" strike="noStrike" u="none">
              <a:solidFill>
                <a:srgbClr val="1b2b2a"/>
              </a:solidFill>
              <a:uFillTx/>
              <a:latin typeface="Calibri"/>
            </a:defRPr>
          </a:pPr>
        </a:p>
      </c:txPr>
    </c:legend>
    <c:plotVisOnly val="1"/>
    <c:dispBlanksAs val="span"/>
  </c:chart>
  <c:spPr>
    <a:noFill/>
    <a:ln w="0">
      <a:noFill/>
    </a:ln>
  </c:spPr>
</c:chartSpace>
</file>

<file path=ppt/charts/chart7.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trike="noStrike" u="none">
                <a:solidFill>
                  <a:srgbClr val="000000"/>
                </a:solidFill>
                <a:uFillTx/>
                <a:latin typeface="Arial"/>
              </a:defRPr>
            </a:pPr>
            <a:r>
              <a:rPr b="0" sz="1400" strike="noStrike" u="none">
                <a:solidFill>
                  <a:srgbClr val="1b2b2a"/>
                </a:solidFill>
                <a:uFillTx/>
                <a:latin typeface="Calibri"/>
              </a:rPr>
              <a:t>New customers by year of first purchase</a:t>
            </a:r>
          </a:p>
        </c:rich>
      </c:tx>
      <c:overlay val="0"/>
      <c:spPr>
        <a:noFill/>
        <a:ln w="0">
          <a:noFill/>
        </a:ln>
      </c:spPr>
    </c:title>
    <c:autoTitleDeleted val="0"/>
    <c:plotArea>
      <c:barChart>
        <c:barDir val="col"/>
        <c:grouping val="clustered"/>
        <c:varyColors val="0"/>
        <c:ser>
          <c:idx val="0"/>
          <c:order val="0"/>
          <c:tx>
            <c:strRef>
              <c:f>label 0</c:f>
              <c:strCache>
                <c:ptCount val="1"/>
                <c:pt idx="0">
                  <c:v>New customers</c:v>
                </c:pt>
              </c:strCache>
            </c:strRef>
          </c:tx>
          <c:spPr>
            <a:solidFill>
              <a:srgbClr val="134e4a"/>
            </a:solidFill>
            <a:ln w="0">
              <a:noFill/>
            </a:ln>
          </c:spPr>
          <c:invertIfNegative val="0"/>
          <c:dLbls>
            <c:numFmt formatCode="#,##0" sourceLinked="0"/>
            <c:txPr>
              <a:bodyPr wrap="square"/>
              <a:lstStyle/>
              <a:p>
                <a:pPr>
                  <a:defRPr b="0" sz="1200" strike="noStrike" u="none">
                    <a:solidFill>
                      <a:srgbClr val="1b2b2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2014</c:v>
                </c:pt>
                <c:pt idx="1">
                  <c:v>2015</c:v>
                </c:pt>
                <c:pt idx="2">
                  <c:v>2016</c:v>
                </c:pt>
                <c:pt idx="3">
                  <c:v>2017</c:v>
                </c:pt>
              </c:strCache>
            </c:strRef>
          </c:cat>
          <c:val>
            <c:numRef>
              <c:f>0</c:f>
              <c:numCache>
                <c:formatCode>General</c:formatCode>
                <c:ptCount val="4"/>
                <c:pt idx="0">
                  <c:v>595</c:v>
                </c:pt>
                <c:pt idx="1">
                  <c:v>136</c:v>
                </c:pt>
                <c:pt idx="2">
                  <c:v>51</c:v>
                </c:pt>
                <c:pt idx="3">
                  <c:v>11</c:v>
                </c:pt>
              </c:numCache>
            </c:numRef>
          </c:val>
        </c:ser>
        <c:gapWidth val="50"/>
        <c:overlap val="0"/>
        <c:axId val="83057287"/>
        <c:axId val="56333494"/>
      </c:barChart>
      <c:catAx>
        <c:axId val="83057287"/>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trike="noStrike" u="none">
                <a:solidFill>
                  <a:srgbClr val="5b6770"/>
                </a:solidFill>
                <a:uFillTx/>
                <a:latin typeface="Calibri"/>
              </a:defRPr>
            </a:pPr>
          </a:p>
        </c:txPr>
        <c:crossAx val="56333494"/>
        <c:crosses val="autoZero"/>
        <c:auto val="1"/>
        <c:lblAlgn val="ctr"/>
        <c:lblOffset val="100"/>
        <c:noMultiLvlLbl val="0"/>
      </c:catAx>
      <c:valAx>
        <c:axId val="56333494"/>
        <c:scaling>
          <c:orientation val="minMax"/>
        </c:scaling>
        <c:delete val="0"/>
        <c:axPos val="l"/>
        <c:majorGridlines>
          <c:spPr>
            <a:ln w="9360">
              <a:solidFill>
                <a:srgbClr val="e3eae9"/>
              </a:solidFill>
              <a:round/>
            </a:ln>
          </c:spPr>
        </c:majorGridlines>
        <c:numFmt formatCode="General" sourceLinked="0"/>
        <c:majorTickMark val="out"/>
        <c:minorTickMark val="none"/>
        <c:tickLblPos val="nextTo"/>
        <c:spPr>
          <a:ln w="12600">
            <a:solidFill>
              <a:srgbClr val="888888"/>
            </a:solidFill>
            <a:round/>
          </a:ln>
        </c:spPr>
        <c:txPr>
          <a:bodyPr/>
          <a:lstStyle/>
          <a:p>
            <a:pPr>
              <a:defRPr b="0" sz="1200" strike="noStrike" u="none">
                <a:solidFill>
                  <a:srgbClr val="5b6770"/>
                </a:solidFill>
                <a:uFillTx/>
                <a:latin typeface="Calibri"/>
              </a:defRPr>
            </a:pPr>
          </a:p>
        </c:txPr>
        <c:crossAx val="83057287"/>
        <c:crosses val="autoZero"/>
        <c:crossBetween val="between"/>
      </c:valAx>
      <c:spPr>
        <a:noFill/>
        <a:ln w="0">
          <a:noFill/>
        </a:ln>
      </c:spPr>
    </c:plotArea>
    <c:plotVisOnly val="1"/>
    <c:dispBlanksAs val="span"/>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slide</a:t>
            </a:r>
            <a:endParaRPr b="0" lang="en-US" sz="1800" strike="noStrike" u="none">
              <a:solidFill>
                <a:schemeClr val="dk1"/>
              </a:solidFill>
              <a:effectLst/>
              <a:uFillTx/>
              <a:latin typeface="Calibri"/>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0" name="PlaceHolder 4"/>
          <p:cNvSpPr>
            <a:spLocks noGrp="1"/>
          </p:cNvSpPr>
          <p:nvPr>
            <p:ph type="dt" idx="2"/>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1" name="PlaceHolder 5"/>
          <p:cNvSpPr>
            <a:spLocks noGrp="1"/>
          </p:cNvSpPr>
          <p:nvPr>
            <p:ph type="ftr" idx="3"/>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2" name="PlaceHolder 6"/>
          <p:cNvSpPr>
            <a:spLocks noGrp="1"/>
          </p:cNvSpPr>
          <p:nvPr>
            <p:ph type="sldNum" idx="4"/>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7C0B1C0C-6202-4120-8C7C-5C971BFBBB8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685800" y="1143000"/>
            <a:ext cx="5486040" cy="3085920"/>
          </a:xfrm>
          <a:prstGeom prst="rect">
            <a:avLst/>
          </a:prstGeom>
          <a:ln w="0">
            <a:noFill/>
          </a:ln>
        </p:spPr>
      </p:sp>
      <p:sp>
        <p:nvSpPr>
          <p:cNvPr id="1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Introduce the project: a retail dashboard and analysis built for the NexAfrica internship. The aim is to show where the business earns its profit and where it loses it. Add your name here when presenting.</a:t>
            </a:r>
            <a:endParaRPr b="0" lang="en-US" sz="2000" strike="noStrike" u="none">
              <a:solidFill>
                <a:srgbClr val="000000"/>
              </a:solidFill>
              <a:effectLst/>
              <a:uFillTx/>
              <a:latin typeface="Arial"/>
            </a:endParaRPr>
          </a:p>
        </p:txBody>
      </p:sp>
      <p:sp>
        <p:nvSpPr>
          <p:cNvPr id="145"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7FB4101-106A-4EE8-9055-89D40D4C6B32}" type="slidenum">
              <a:rPr b="0" lang="en-US" sz="1200" strike="noStrike" u="none">
                <a:solidFill>
                  <a:schemeClr val="dk1"/>
                </a:solidFill>
                <a:effectLst/>
                <a:uFillTx/>
                <a:latin typeface="+mn-lt"/>
                <a:ea typeface="+mn-ea"/>
              </a:rPr>
              <a:t>9</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sldImg"/>
          </p:nvPr>
        </p:nvSpPr>
        <p:spPr>
          <a:xfrm>
            <a:off x="685800" y="1143000"/>
            <a:ext cx="5486040" cy="3085920"/>
          </a:xfrm>
          <a:prstGeom prst="rect">
            <a:avLst/>
          </a:prstGeom>
          <a:ln w="0">
            <a:noFill/>
          </a:ln>
        </p:spPr>
      </p:sp>
      <p:sp>
        <p:nvSpPr>
          <p:cNvPr id="1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 dataset is the Kaggle Superstore Sales data. One raw row was an exact duplicate and was removed during cleaning, leaving 9,993 order lines.</a:t>
            </a:r>
            <a:endParaRPr b="0" lang="en-US" sz="2000" strike="noStrike" u="none">
              <a:solidFill>
                <a:srgbClr val="000000"/>
              </a:solidFill>
              <a:effectLst/>
              <a:uFillTx/>
              <a:latin typeface="Arial"/>
            </a:endParaRPr>
          </a:p>
        </p:txBody>
      </p:sp>
      <p:sp>
        <p:nvSpPr>
          <p:cNvPr id="148"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095227A-48FE-43FC-B857-C7BF6BF5285F}" type="slidenum">
              <a:rPr b="0" lang="en-US" sz="1200" strike="noStrike" u="none">
                <a:solidFill>
                  <a:schemeClr val="dk1"/>
                </a:solidFill>
                <a:effectLst/>
                <a:uFillTx/>
                <a:latin typeface="+mn-lt"/>
                <a:ea typeface="+mn-ea"/>
              </a:rPr>
              <a:t>9</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685800" y="1143000"/>
            <a:ext cx="5486040" cy="3085920"/>
          </a:xfrm>
          <a:prstGeom prst="rect">
            <a:avLst/>
          </a:prstGeom>
          <a:ln w="0">
            <a:noFill/>
          </a:ln>
        </p:spPr>
      </p:sp>
      <p:sp>
        <p:nvSpPr>
          <p:cNvPr id="1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Thes</a:t>
            </a:r>
            <a:r>
              <a:rPr b="0" lang="en-US" sz="2000" strike="noStrike" u="none">
                <a:solidFill>
                  <a:srgbClr val="000000"/>
                </a:solidFill>
                <a:effectLst/>
                <a:uFillTx/>
                <a:latin typeface="Arial"/>
              </a:rPr>
              <a:t>e are </a:t>
            </a:r>
            <a:r>
              <a:rPr b="0" lang="en-US" sz="2000" strike="noStrike" u="none">
                <a:solidFill>
                  <a:srgbClr val="000000"/>
                </a:solidFill>
                <a:effectLst/>
                <a:uFillTx/>
                <a:latin typeface="Arial"/>
              </a:rPr>
              <a:t>the </a:t>
            </a:r>
            <a:r>
              <a:rPr b="0" lang="en-US" sz="2000" strike="noStrike" u="none">
                <a:solidFill>
                  <a:srgbClr val="000000"/>
                </a:solidFill>
                <a:effectLst/>
                <a:uFillTx/>
                <a:latin typeface="Arial"/>
              </a:rPr>
              <a:t>seve</a:t>
            </a:r>
            <a:r>
              <a:rPr b="0" lang="en-US" sz="2000" strike="noStrike" u="none">
                <a:solidFill>
                  <a:srgbClr val="000000"/>
                </a:solidFill>
                <a:effectLst/>
                <a:uFillTx/>
                <a:latin typeface="Arial"/>
              </a:rPr>
              <a:t>n </a:t>
            </a:r>
            <a:r>
              <a:rPr b="0" lang="en-US" sz="2000" strike="noStrike" u="none">
                <a:solidFill>
                  <a:srgbClr val="000000"/>
                </a:solidFill>
                <a:effectLst/>
                <a:uFillTx/>
                <a:latin typeface="Arial"/>
              </a:rPr>
              <a:t>requi</a:t>
            </a:r>
            <a:r>
              <a:rPr b="0" lang="en-US" sz="2000" strike="noStrike" u="none">
                <a:solidFill>
                  <a:srgbClr val="000000"/>
                </a:solidFill>
                <a:effectLst/>
                <a:uFillTx/>
                <a:latin typeface="Arial"/>
              </a:rPr>
              <a:t>red </a:t>
            </a:r>
            <a:r>
              <a:rPr b="0" lang="en-US" sz="2000" strike="noStrike" u="none">
                <a:solidFill>
                  <a:srgbClr val="000000"/>
                </a:solidFill>
                <a:effectLst/>
                <a:uFillTx/>
                <a:latin typeface="Arial"/>
              </a:rPr>
              <a:t>KPIs</a:t>
            </a:r>
            <a:r>
              <a:rPr b="0" lang="en-US" sz="2000" strike="noStrike" u="none">
                <a:solidFill>
                  <a:srgbClr val="000000"/>
                </a:solidFill>
                <a:effectLst/>
                <a:uFillTx/>
                <a:latin typeface="Arial"/>
              </a:rPr>
              <a:t>. </a:t>
            </a:r>
            <a:r>
              <a:rPr b="0" lang="en-US" sz="2000" strike="noStrike" u="none">
                <a:solidFill>
                  <a:srgbClr val="000000"/>
                </a:solidFill>
                <a:effectLst/>
                <a:uFillTx/>
                <a:latin typeface="Arial"/>
              </a:rPr>
              <a:t>Orde</a:t>
            </a:r>
            <a:r>
              <a:rPr b="0" lang="en-US" sz="2000" strike="noStrike" u="none">
                <a:solidFill>
                  <a:srgbClr val="000000"/>
                </a:solidFill>
                <a:effectLst/>
                <a:uFillTx/>
                <a:latin typeface="Arial"/>
              </a:rPr>
              <a:t>rs </a:t>
            </a:r>
            <a:r>
              <a:rPr b="0" lang="en-US" sz="2000" strike="noStrike" u="none">
                <a:solidFill>
                  <a:srgbClr val="000000"/>
                </a:solidFill>
                <a:effectLst/>
                <a:uFillTx/>
                <a:latin typeface="Arial"/>
              </a:rPr>
              <a:t>and </a:t>
            </a:r>
            <a:r>
              <a:rPr b="0" lang="en-US" sz="2000" strike="noStrike" u="none">
                <a:solidFill>
                  <a:srgbClr val="000000"/>
                </a:solidFill>
                <a:effectLst/>
                <a:uFillTx/>
                <a:latin typeface="Arial"/>
              </a:rPr>
              <a:t>cust</a:t>
            </a:r>
            <a:r>
              <a:rPr b="0" lang="en-US" sz="2000" strike="noStrike" u="none">
                <a:solidFill>
                  <a:srgbClr val="000000"/>
                </a:solidFill>
                <a:effectLst/>
                <a:uFillTx/>
                <a:latin typeface="Arial"/>
              </a:rPr>
              <a:t>omer</a:t>
            </a:r>
            <a:r>
              <a:rPr b="0" lang="en-US" sz="2000" strike="noStrike" u="none">
                <a:solidFill>
                  <a:srgbClr val="000000"/>
                </a:solidFill>
                <a:effectLst/>
                <a:uFillTx/>
                <a:latin typeface="Arial"/>
              </a:rPr>
              <a:t>s are </a:t>
            </a:r>
            <a:r>
              <a:rPr b="0" lang="en-US" sz="2000" strike="noStrike" u="none">
                <a:solidFill>
                  <a:srgbClr val="000000"/>
                </a:solidFill>
                <a:effectLst/>
                <a:uFillTx/>
                <a:latin typeface="Arial"/>
              </a:rPr>
              <a:t>coun</a:t>
            </a:r>
            <a:r>
              <a:rPr b="0" lang="en-US" sz="2000" strike="noStrike" u="none">
                <a:solidFill>
                  <a:srgbClr val="000000"/>
                </a:solidFill>
                <a:effectLst/>
                <a:uFillTx/>
                <a:latin typeface="Arial"/>
              </a:rPr>
              <a:t>ted </a:t>
            </a:r>
            <a:r>
              <a:rPr b="0" lang="en-US" sz="2000" strike="noStrike" u="none">
                <a:solidFill>
                  <a:srgbClr val="000000"/>
                </a:solidFill>
                <a:effectLst/>
                <a:uFillTx/>
                <a:latin typeface="Arial"/>
              </a:rPr>
              <a:t>as </a:t>
            </a:r>
            <a:r>
              <a:rPr b="0" lang="en-US" sz="2000" strike="noStrike" u="none">
                <a:solidFill>
                  <a:srgbClr val="000000"/>
                </a:solidFill>
                <a:effectLst/>
                <a:uFillTx/>
                <a:latin typeface="Arial"/>
              </a:rPr>
              <a:t>uniq</a:t>
            </a:r>
            <a:r>
              <a:rPr b="0" lang="en-US" sz="2000" strike="noStrike" u="none">
                <a:solidFill>
                  <a:srgbClr val="000000"/>
                </a:solidFill>
                <a:effectLst/>
                <a:uFillTx/>
                <a:latin typeface="Arial"/>
              </a:rPr>
              <a:t>ue </a:t>
            </a:r>
            <a:r>
              <a:rPr b="0" lang="en-US" sz="2000" strike="noStrike" u="none">
                <a:solidFill>
                  <a:srgbClr val="000000"/>
                </a:solidFill>
                <a:effectLst/>
                <a:uFillTx/>
                <a:latin typeface="Arial"/>
              </a:rPr>
              <a:t>IDs. </a:t>
            </a:r>
            <a:r>
              <a:rPr b="0" lang="en-US" sz="2000" strike="noStrike" u="none">
                <a:solidFill>
                  <a:srgbClr val="000000"/>
                </a:solidFill>
                <a:effectLst/>
                <a:uFillTx/>
                <a:latin typeface="Arial"/>
              </a:rPr>
              <a:t>Aver</a:t>
            </a:r>
            <a:r>
              <a:rPr b="0" lang="en-US" sz="2000" strike="noStrike" u="none">
                <a:solidFill>
                  <a:srgbClr val="000000"/>
                </a:solidFill>
                <a:effectLst/>
                <a:uFillTx/>
                <a:latin typeface="Arial"/>
              </a:rPr>
              <a:t>age </a:t>
            </a:r>
            <a:r>
              <a:rPr b="0" lang="en-US" sz="2000" strike="noStrike" u="none">
                <a:solidFill>
                  <a:srgbClr val="000000"/>
                </a:solidFill>
                <a:effectLst/>
                <a:uFillTx/>
                <a:latin typeface="Arial"/>
              </a:rPr>
              <a:t>orde</a:t>
            </a:r>
            <a:r>
              <a:rPr b="0" lang="en-US" sz="2000" strike="noStrike" u="none">
                <a:solidFill>
                  <a:srgbClr val="000000"/>
                </a:solidFill>
                <a:effectLst/>
                <a:uFillTx/>
                <a:latin typeface="Arial"/>
              </a:rPr>
              <a:t>r </a:t>
            </a:r>
            <a:r>
              <a:rPr b="0" lang="en-US" sz="2000" strike="noStrike" u="none">
                <a:solidFill>
                  <a:srgbClr val="000000"/>
                </a:solidFill>
                <a:effectLst/>
                <a:uFillTx/>
                <a:latin typeface="Arial"/>
              </a:rPr>
              <a:t>valu</a:t>
            </a:r>
            <a:r>
              <a:rPr b="0" lang="en-US" sz="2000" strike="noStrike" u="none">
                <a:solidFill>
                  <a:srgbClr val="000000"/>
                </a:solidFill>
                <a:effectLst/>
                <a:uFillTx/>
                <a:latin typeface="Arial"/>
              </a:rPr>
              <a:t>e is </a:t>
            </a:r>
            <a:r>
              <a:rPr b="0" lang="en-US" sz="2000" strike="noStrike" u="none">
                <a:solidFill>
                  <a:srgbClr val="000000"/>
                </a:solidFill>
                <a:effectLst/>
                <a:uFillTx/>
                <a:latin typeface="Arial"/>
              </a:rPr>
              <a:t>total </a:t>
            </a:r>
            <a:r>
              <a:rPr b="0" lang="en-US" sz="2000" strike="noStrike" u="none">
                <a:solidFill>
                  <a:srgbClr val="000000"/>
                </a:solidFill>
                <a:effectLst/>
                <a:uFillTx/>
                <a:latin typeface="Arial"/>
              </a:rPr>
              <a:t>sale</a:t>
            </a:r>
            <a:r>
              <a:rPr b="0" lang="en-US" sz="2000" strike="noStrike" u="none">
                <a:solidFill>
                  <a:srgbClr val="000000"/>
                </a:solidFill>
                <a:effectLst/>
                <a:uFillTx/>
                <a:latin typeface="Arial"/>
              </a:rPr>
              <a:t>s </a:t>
            </a:r>
            <a:r>
              <a:rPr b="0" lang="en-US" sz="2000" strike="noStrike" u="none">
                <a:solidFill>
                  <a:srgbClr val="000000"/>
                </a:solidFill>
                <a:effectLst/>
                <a:uFillTx/>
                <a:latin typeface="Arial"/>
              </a:rPr>
              <a:t>divid</a:t>
            </a:r>
            <a:r>
              <a:rPr b="0" lang="en-US" sz="2000" strike="noStrike" u="none">
                <a:solidFill>
                  <a:srgbClr val="000000"/>
                </a:solidFill>
                <a:effectLst/>
                <a:uFillTx/>
                <a:latin typeface="Arial"/>
              </a:rPr>
              <a:t>ed </a:t>
            </a:r>
            <a:r>
              <a:rPr b="0" lang="en-US" sz="2000" strike="noStrike" u="none">
                <a:solidFill>
                  <a:srgbClr val="000000"/>
                </a:solidFill>
                <a:effectLst/>
                <a:uFillTx/>
                <a:latin typeface="Arial"/>
              </a:rPr>
              <a:t>by </a:t>
            </a:r>
            <a:r>
              <a:rPr b="0" lang="en-US" sz="2000" strike="noStrike" u="none">
                <a:solidFill>
                  <a:srgbClr val="000000"/>
                </a:solidFill>
                <a:effectLst/>
                <a:uFillTx/>
                <a:latin typeface="Arial"/>
              </a:rPr>
              <a:t>the </a:t>
            </a:r>
            <a:r>
              <a:rPr b="0" lang="en-US" sz="2000" strike="noStrike" u="none">
                <a:solidFill>
                  <a:srgbClr val="000000"/>
                </a:solidFill>
                <a:effectLst/>
                <a:uFillTx/>
                <a:latin typeface="Arial"/>
              </a:rPr>
              <a:t>num</a:t>
            </a:r>
            <a:r>
              <a:rPr b="0" lang="en-US" sz="2000" strike="noStrike" u="none">
                <a:solidFill>
                  <a:srgbClr val="000000"/>
                </a:solidFill>
                <a:effectLst/>
                <a:uFillTx/>
                <a:latin typeface="Arial"/>
              </a:rPr>
              <a:t>ber </a:t>
            </a:r>
            <a:r>
              <a:rPr b="0" lang="en-US" sz="2000" strike="noStrike" u="none">
                <a:solidFill>
                  <a:srgbClr val="000000"/>
                </a:solidFill>
                <a:effectLst/>
                <a:uFillTx/>
                <a:latin typeface="Arial"/>
              </a:rPr>
              <a:t>of </a:t>
            </a:r>
            <a:r>
              <a:rPr b="0" lang="en-US" sz="2000" strike="noStrike" u="none">
                <a:solidFill>
                  <a:srgbClr val="000000"/>
                </a:solidFill>
                <a:effectLst/>
                <a:uFillTx/>
                <a:latin typeface="Arial"/>
              </a:rPr>
              <a:t>orde</a:t>
            </a:r>
            <a:r>
              <a:rPr b="0" lang="en-US" sz="2000" strike="noStrike" u="none">
                <a:solidFill>
                  <a:srgbClr val="000000"/>
                </a:solidFill>
                <a:effectLst/>
                <a:uFillTx/>
                <a:latin typeface="Arial"/>
              </a:rPr>
              <a:t>rs.</a:t>
            </a:r>
            <a:endParaRPr b="0" lang="en-US" sz="2000" strike="noStrike" u="none">
              <a:solidFill>
                <a:srgbClr val="000000"/>
              </a:solidFill>
              <a:effectLst/>
              <a:uFillTx/>
              <a:latin typeface="Arial"/>
            </a:endParaRPr>
          </a:p>
        </p:txBody>
      </p:sp>
      <p:sp>
        <p:nvSpPr>
          <p:cNvPr id="151"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D340139-A0C1-4441-AA34-F260276ADAE9}" type="slidenum">
              <a:rPr b="0" lang="en-US" sz="1200" strike="noStrike" u="none">
                <a:solidFill>
                  <a:schemeClr val="dk1"/>
                </a:solidFill>
                <a:effectLst/>
                <a:uFillTx/>
                <a:latin typeface="+mn-lt"/>
                <a:ea typeface="+mn-ea"/>
              </a:rPr>
              <a:t>9</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685800" y="1143000"/>
            <a:ext cx="5486040" cy="3085920"/>
          </a:xfrm>
          <a:prstGeom prst="rect">
            <a:avLst/>
          </a:prstGeom>
          <a:ln w="0">
            <a:noFill/>
          </a:ln>
        </p:spPr>
      </p:sp>
      <p:sp>
        <p:nvSpPr>
          <p:cNvPr id="1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Sales fell slightly in 2015, then grew strongly in 2016 and 2017. September, November </a:t>
            </a:r>
            <a:r>
              <a:rPr b="0" lang="en-US" sz="2000" strike="noStrike" u="none">
                <a:solidFill>
                  <a:srgbClr val="000000"/>
                </a:solidFill>
                <a:effectLst/>
                <a:uFillTx/>
                <a:latin typeface="Arial"/>
              </a:rPr>
              <a:t>and December bring in 43 percent of all sales, so stock and staffing should be planned for </a:t>
            </a:r>
            <a:r>
              <a:rPr b="0" lang="en-US" sz="2000" strike="noStrike" u="none">
                <a:solidFill>
                  <a:srgbClr val="000000"/>
                </a:solidFill>
                <a:effectLst/>
                <a:uFillTx/>
                <a:latin typeface="Arial"/>
              </a:rPr>
              <a:t>the autumn peak.</a:t>
            </a:r>
            <a:endParaRPr b="0" lang="en-US" sz="2000" strike="noStrike" u="none">
              <a:solidFill>
                <a:srgbClr val="000000"/>
              </a:solidFill>
              <a:effectLst/>
              <a:uFillTx/>
              <a:latin typeface="Arial"/>
            </a:endParaRPr>
          </a:p>
        </p:txBody>
      </p:sp>
      <p:sp>
        <p:nvSpPr>
          <p:cNvPr id="154"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2642C1F-D12C-4243-AA64-7817FF108851}" type="slidenum">
              <a:rPr b="0" lang="en-US" sz="1200" strike="noStrike" u="none">
                <a:solidFill>
                  <a:schemeClr val="dk1"/>
                </a:solidFill>
                <a:effectLst/>
                <a:uFillTx/>
                <a:latin typeface="+mn-lt"/>
                <a:ea typeface="+mn-ea"/>
              </a:rPr>
              <a:t>9</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685800" y="1143000"/>
            <a:ext cx="5486040" cy="3085920"/>
          </a:xfrm>
          <a:prstGeom prst="rect">
            <a:avLst/>
          </a:prstGeom>
          <a:ln w="0">
            <a:noFill/>
          </a:ln>
        </p:spPr>
      </p:sp>
      <p:sp>
        <p:nvSpPr>
          <p:cNvPr id="1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West is both the biggest and the most profitable region. Central sells more than South but makes less profit. Furniture sells almost as much as Technology but keeps very little of it.</a:t>
            </a:r>
            <a:endParaRPr b="0" lang="en-US" sz="2000" strike="noStrike" u="none">
              <a:solidFill>
                <a:srgbClr val="000000"/>
              </a:solidFill>
              <a:effectLst/>
              <a:uFillTx/>
              <a:latin typeface="Arial"/>
            </a:endParaRPr>
          </a:p>
        </p:txBody>
      </p:sp>
      <p:sp>
        <p:nvSpPr>
          <p:cNvPr id="157"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E0C0377-8998-4DB3-A6EC-6CBD8EF495E1}" type="slidenum">
              <a:rPr b="0" lang="en-US" sz="1200" strike="noStrike" u="none">
                <a:solidFill>
                  <a:schemeClr val="dk1"/>
                </a:solidFill>
                <a:effectLst/>
                <a:uFillTx/>
                <a:latin typeface="+mn-lt"/>
                <a:ea typeface="+mn-ea"/>
              </a:rPr>
              <a:t>9</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685800" y="1143000"/>
            <a:ext cx="5486040" cy="3085920"/>
          </a:xfrm>
          <a:prstGeom prst="rect">
            <a:avLst/>
          </a:prstGeom>
          <a:ln w="0">
            <a:noFill/>
          </a:ln>
        </p:spPr>
      </p:sp>
      <p:sp>
        <p:nvSpPr>
          <p:cNvPr id="15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is the most important finding. Up to 20 percent the business still makes a profit. </a:t>
            </a:r>
            <a:r>
              <a:rPr b="0" lang="en-US" sz="2000" strike="noStrike" u="none">
                <a:solidFill>
                  <a:srgbClr val="000000"/>
                </a:solidFill>
                <a:effectLst/>
                <a:uFillTx/>
                <a:latin typeface="Arial"/>
              </a:rPr>
              <a:t>Above 20 percent almost every line loses money. Central discounts most (24 percent on </a:t>
            </a:r>
            <a:r>
              <a:rPr b="0" lang="en-US" sz="2000" strike="noStrike" u="none">
                <a:solidFill>
                  <a:srgbClr val="000000"/>
                </a:solidFill>
                <a:effectLst/>
                <a:uFillTx/>
                <a:latin typeface="Arial"/>
              </a:rPr>
              <a:t>average against 11 percent in the West), which explains its weak margin.</a:t>
            </a:r>
            <a:endParaRPr b="0" lang="en-US" sz="2000" strike="noStrike" u="none">
              <a:solidFill>
                <a:srgbClr val="000000"/>
              </a:solidFill>
              <a:effectLst/>
              <a:uFillTx/>
              <a:latin typeface="Arial"/>
            </a:endParaRPr>
          </a:p>
        </p:txBody>
      </p:sp>
      <p:sp>
        <p:nvSpPr>
          <p:cNvPr id="160"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265045D-F4AB-4093-A4FB-5CA561421E2E}" type="slidenum">
              <a:rPr b="0" lang="en-US" sz="1200" strike="noStrike" u="none">
                <a:solidFill>
                  <a:schemeClr val="dk1"/>
                </a:solidFill>
                <a:effectLst/>
                <a:uFillTx/>
                <a:latin typeface="+mn-lt"/>
                <a:ea typeface="+mn-ea"/>
              </a:rPr>
              <a:t>9</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685800" y="1143000"/>
            <a:ext cx="5486040" cy="3085920"/>
          </a:xfrm>
          <a:prstGeom prst="rect">
            <a:avLst/>
          </a:prstGeom>
          <a:ln w="0">
            <a:noFill/>
          </a:ln>
        </p:spPr>
      </p:sp>
      <p:sp>
        <p:nvSpPr>
          <p:cNvPr id="16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Products are split at the median product sales and median product profit. The high-sales, low-profit group looks good in a revenue report but loses money overall. These products should be repriced, discounted less, or dropped.</a:t>
            </a:r>
            <a:endParaRPr b="0" lang="en-US" sz="2000" strike="noStrike" u="none">
              <a:solidFill>
                <a:srgbClr val="000000"/>
              </a:solidFill>
              <a:effectLst/>
              <a:uFillTx/>
              <a:latin typeface="Arial"/>
            </a:endParaRPr>
          </a:p>
        </p:txBody>
      </p:sp>
      <p:sp>
        <p:nvSpPr>
          <p:cNvPr id="163"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454927C-837A-4320-81F4-7691667FD509}" type="slidenum">
              <a:rPr b="0" lang="en-US" sz="1200" strike="noStrike" u="none">
                <a:solidFill>
                  <a:schemeClr val="dk1"/>
                </a:solidFill>
                <a:effectLst/>
                <a:uFillTx/>
                <a:latin typeface="+mn-lt"/>
                <a:ea typeface="+mn-ea"/>
              </a:rPr>
              <a:t>9</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685800" y="1143000"/>
            <a:ext cx="5486040" cy="308592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Segments are based on each customer's total sales over four years and whether they were profitable. The Medium-Value group buys as much as the High-Value group in total but gives far less profit.</a:t>
            </a:r>
            <a:endParaRPr b="0" lang="en-US" sz="2000" strike="noStrike" u="none">
              <a:solidFill>
                <a:srgbClr val="000000"/>
              </a:solidFill>
              <a:effectLst/>
              <a:uFillTx/>
              <a:latin typeface="Arial"/>
            </a:endParaRPr>
          </a:p>
        </p:txBody>
      </p:sp>
      <p:sp>
        <p:nvSpPr>
          <p:cNvPr id="166"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5F20234-C00E-4643-BD4E-148707E9D5D0}" type="slidenum">
              <a:rPr b="0" lang="en-US" sz="1200" strike="noStrike" u="none">
                <a:solidFill>
                  <a:schemeClr val="dk1"/>
                </a:solidFill>
                <a:effectLst/>
                <a:uFillTx/>
                <a:latin typeface="+mn-lt"/>
                <a:ea typeface="+mn-ea"/>
              </a:rPr>
              <a:t>9</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685800" y="1143000"/>
            <a:ext cx="5486040" cy="3085920"/>
          </a:xfrm>
          <a:prstGeom prst="rect">
            <a:avLst/>
          </a:prstGeom>
          <a:ln w="0">
            <a:noFill/>
          </a:ln>
        </p:spPr>
      </p:sp>
      <p:sp>
        <p:nvSpPr>
          <p:cNvPr id="16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Customers reorder about every four months, so monthly retention looks low even though the base is loyal. The risk is not losing customers; it is that almost no new customers are arriving. Caveat: the data starts in 2014, so some 2014 new customers may have bought before.</a:t>
            </a:r>
            <a:endParaRPr b="0" lang="en-US" sz="2000" strike="noStrike" u="none">
              <a:solidFill>
                <a:srgbClr val="000000"/>
              </a:solidFill>
              <a:effectLst/>
              <a:uFillTx/>
              <a:latin typeface="Arial"/>
            </a:endParaRPr>
          </a:p>
        </p:txBody>
      </p:sp>
      <p:sp>
        <p:nvSpPr>
          <p:cNvPr id="169"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833DCC5-426D-4E31-A1D1-F34F59F3F937}" type="slidenum">
              <a:rPr b="0" lang="en-US" sz="1200" strike="noStrike" u="none">
                <a:solidFill>
                  <a:schemeClr val="dk1"/>
                </a:solidFill>
                <a:effectLst/>
                <a:uFillTx/>
                <a:latin typeface="+mn-lt"/>
                <a:ea typeface="+mn-ea"/>
              </a:rPr>
              <a:t>9</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6040" cy="3085920"/>
          </a:xfrm>
          <a:prstGeom prst="rect">
            <a:avLst/>
          </a:prstGeom>
          <a:ln w="0">
            <a:noFill/>
          </a:ln>
        </p:spPr>
      </p:sp>
      <p:sp>
        <p:nvSpPr>
          <p:cNvPr id="17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 first four actions protect profit by fixing discounting and pricing. The fifth protects future growth. Discount policy is the quickest win because it needs no new sales.</a:t>
            </a:r>
            <a:endParaRPr b="0" lang="en-US" sz="2000" strike="noStrike" u="none">
              <a:solidFill>
                <a:srgbClr val="000000"/>
              </a:solidFill>
              <a:effectLst/>
              <a:uFillTx/>
              <a:latin typeface="Arial"/>
            </a:endParaRPr>
          </a:p>
        </p:txBody>
      </p:sp>
      <p:sp>
        <p:nvSpPr>
          <p:cNvPr id="172"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990F9DC-ADB0-41FC-AE66-D170EBB2C81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685800" y="1143000"/>
            <a:ext cx="5486040" cy="3085920"/>
          </a:xfrm>
          <a:prstGeom prst="rect">
            <a:avLst/>
          </a:prstGeom>
          <a:ln w="0">
            <a:noFill/>
          </a:ln>
        </p:spPr>
      </p:sp>
      <p:sp>
        <p:nvSpPr>
          <p:cNvPr id="17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Summarise: fix discount policy and pricing for a quick profit gain, then restart customer acquisition. Invite questions and offer to demonstrate the dashboard.</a:t>
            </a:r>
            <a:endParaRPr b="0" lang="en-US" sz="2000" strike="noStrike" u="none">
              <a:solidFill>
                <a:srgbClr val="000000"/>
              </a:solidFill>
              <a:effectLst/>
              <a:uFillTx/>
              <a:latin typeface="Arial"/>
            </a:endParaRPr>
          </a:p>
        </p:txBody>
      </p:sp>
      <p:sp>
        <p:nvSpPr>
          <p:cNvPr id="175"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6B5BF89-6254-4625-8653-B789E73CFE5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LAYOUT">
    <p:bg>
      <p:bgPr>
        <a:solidFill>
          <a:srgbClr val="134e4a"/>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731520" y="1920240"/>
            <a:ext cx="10698120" cy="1371240"/>
          </a:xfrm>
          <a:prstGeom prst="rect">
            <a:avLst/>
          </a:prstGeom>
          <a:noFill/>
          <a:ln w="0">
            <a:noFill/>
          </a:ln>
        </p:spPr>
        <p:txBody>
          <a:bodyPr lIns="90000" rIns="90000" tIns="45000" bIns="45000" anchor="t">
            <a:noAutofit/>
          </a:bodyPr>
          <a:p>
            <a:pPr indent="0">
              <a:buNone/>
            </a:pPr>
            <a:r>
              <a:rPr b="0" lang="en-US" sz="5400" strike="noStrike" u="none">
                <a:solidFill>
                  <a:schemeClr val="dk1"/>
                </a:solidFill>
                <a:effectLst/>
                <a:uFillTx/>
                <a:latin typeface="Calibri"/>
              </a:rPr>
              <a:t>Click to edit the title text format</a:t>
            </a:r>
            <a:endParaRPr b="0" lang="en-US" sz="5400" strike="noStrike" u="none">
              <a:solidFill>
                <a:schemeClr val="dk1"/>
              </a:solidFill>
              <a:effectLst/>
              <a:uFillTx/>
              <a:latin typeface="Calibri"/>
            </a:endParaRPr>
          </a:p>
        </p:txBody>
      </p:sp>
      <p:sp>
        <p:nvSpPr>
          <p:cNvPr id="1" name="PlaceHolder 2"/>
          <p:cNvSpPr>
            <a:spLocks noGrp="1"/>
          </p:cNvSpPr>
          <p:nvPr>
            <p:ph type="body"/>
          </p:nvPr>
        </p:nvSpPr>
        <p:spPr>
          <a:xfrm>
            <a:off x="731520" y="3520440"/>
            <a:ext cx="10058040" cy="1096920"/>
          </a:xfrm>
          <a:prstGeom prst="rect">
            <a:avLst/>
          </a:prstGeom>
          <a:noFill/>
          <a:ln w="0">
            <a:noFill/>
          </a:ln>
        </p:spPr>
        <p:txBody>
          <a:bodyPr lIns="90000" rIns="90000" tIns="45000" bIns="45000" anchor="t">
            <a:noAutofit/>
          </a:bodyPr>
          <a:p>
            <a:pPr marL="432000" indent="-324000">
              <a:spcBef>
                <a:spcPts val="1417"/>
              </a:spcBef>
              <a:buClr>
                <a:srgbClr val="ffffff"/>
              </a:buClr>
              <a:buSzPct val="45000"/>
              <a:buFont typeface="Wingdings" charset="2"/>
              <a:buChar char=""/>
            </a:pPr>
            <a:r>
              <a:rPr b="0" lang="en-US" sz="2200" strike="noStrike" u="none">
                <a:solidFill>
                  <a:schemeClr val="dk1"/>
                </a:solidFill>
                <a:effectLst/>
                <a:uFillTx/>
                <a:latin typeface="Calibri"/>
              </a:rPr>
              <a:t>Click to edit the outline text format</a:t>
            </a:r>
            <a:endParaRPr b="0" lang="en-US" sz="2200" strike="noStrike" u="none">
              <a:solidFill>
                <a:schemeClr val="dk1"/>
              </a:solidFill>
              <a:effectLst/>
              <a:uFillTx/>
              <a:latin typeface="Calibri"/>
            </a:endParaRPr>
          </a:p>
          <a:p>
            <a:pPr lvl="1" marL="864000" indent="-324000">
              <a:spcBef>
                <a:spcPts val="1134"/>
              </a:spcBef>
              <a:buClr>
                <a:srgbClr val="ffffff"/>
              </a:buClr>
              <a:buSzPct val="75000"/>
              <a:buFont typeface="Symbol" charset="2"/>
              <a:buChar char=""/>
            </a:pPr>
            <a:r>
              <a:rPr b="0" lang="en-US" sz="2200" strike="noStrike" u="none">
                <a:solidFill>
                  <a:schemeClr val="dk1"/>
                </a:solidFill>
                <a:effectLst/>
                <a:uFillTx/>
                <a:latin typeface="Calibri"/>
              </a:rPr>
              <a:t>Second Outline Level</a:t>
            </a:r>
            <a:endParaRPr b="0" lang="en-US" sz="2200" strike="noStrike" u="none">
              <a:solidFill>
                <a:schemeClr val="dk1"/>
              </a:solidFill>
              <a:effectLst/>
              <a:uFillTx/>
              <a:latin typeface="Calibri"/>
            </a:endParaRPr>
          </a:p>
          <a:p>
            <a:pPr lvl="2" marL="1296000" indent="-288000">
              <a:spcBef>
                <a:spcPts val="850"/>
              </a:spcBef>
              <a:buClr>
                <a:srgbClr val="ffffff"/>
              </a:buClr>
              <a:buSzPct val="45000"/>
              <a:buFont typeface="Wingdings" charset="2"/>
              <a:buChar char=""/>
            </a:pPr>
            <a:r>
              <a:rPr b="0" lang="en-US" sz="2200" strike="noStrike" u="none">
                <a:solidFill>
                  <a:schemeClr val="dk1"/>
                </a:solidFill>
                <a:effectLst/>
                <a:uFillTx/>
                <a:latin typeface="Calibri"/>
              </a:rPr>
              <a:t>Third Outline Level</a:t>
            </a:r>
            <a:endParaRPr b="0" lang="en-US" sz="2200" strike="noStrike" u="none">
              <a:solidFill>
                <a:schemeClr val="dk1"/>
              </a:solidFill>
              <a:effectLst/>
              <a:uFillTx/>
              <a:latin typeface="Calibri"/>
            </a:endParaRPr>
          </a:p>
          <a:p>
            <a:pPr lvl="3" marL="1728000" indent="-216000">
              <a:spcBef>
                <a:spcPts val="567"/>
              </a:spcBef>
              <a:buClr>
                <a:srgbClr val="ffffff"/>
              </a:buClr>
              <a:buSzPct val="75000"/>
              <a:buFont typeface="Symbol" charset="2"/>
              <a:buChar char=""/>
            </a:pPr>
            <a:r>
              <a:rPr b="0" lang="en-US" sz="2200" strike="noStrike" u="none">
                <a:solidFill>
                  <a:schemeClr val="dk1"/>
                </a:solidFill>
                <a:effectLst/>
                <a:uFillTx/>
                <a:latin typeface="Calibri"/>
              </a:rPr>
              <a:t>Fourth Outline Level</a:t>
            </a:r>
            <a:endParaRPr b="0" lang="en-US" sz="2200" strike="noStrike" u="none">
              <a:solidFill>
                <a:schemeClr val="dk1"/>
              </a:solidFill>
              <a:effectLst/>
              <a:uFillTx/>
              <a:latin typeface="Calibri"/>
            </a:endParaRPr>
          </a:p>
          <a:p>
            <a:pPr lvl="4" marL="2160000" indent="-216000">
              <a:spcBef>
                <a:spcPts val="283"/>
              </a:spcBef>
              <a:buClr>
                <a:srgbClr val="ffffff"/>
              </a:buClr>
              <a:buSzPct val="45000"/>
              <a:buFont typeface="Wingdings" charset="2"/>
              <a:buChar char=""/>
            </a:pPr>
            <a:r>
              <a:rPr b="0" lang="en-US" sz="2200" strike="noStrike" u="none">
                <a:solidFill>
                  <a:schemeClr val="dk1"/>
                </a:solidFill>
                <a:effectLst/>
                <a:uFillTx/>
                <a:latin typeface="Calibri"/>
              </a:rPr>
              <a:t>Fifth Outline Level</a:t>
            </a:r>
            <a:endParaRPr b="0" lang="en-US" sz="2200" strike="noStrike" u="none">
              <a:solidFill>
                <a:schemeClr val="dk1"/>
              </a:solidFill>
              <a:effectLst/>
              <a:uFillTx/>
              <a:latin typeface="Calibri"/>
            </a:endParaRPr>
          </a:p>
          <a:p>
            <a:pPr lvl="5" marL="2592000" indent="-216000">
              <a:spcBef>
                <a:spcPts val="283"/>
              </a:spcBef>
              <a:buClr>
                <a:srgbClr val="ffffff"/>
              </a:buClr>
              <a:buSzPct val="45000"/>
              <a:buFont typeface="Wingdings" charset="2"/>
              <a:buChar char=""/>
            </a:pPr>
            <a:r>
              <a:rPr b="0" lang="en-US" sz="2200" strike="noStrike" u="none">
                <a:solidFill>
                  <a:schemeClr val="dk1"/>
                </a:solidFill>
                <a:effectLst/>
                <a:uFillTx/>
                <a:latin typeface="Calibri"/>
              </a:rPr>
              <a:t>Sixth Outline Level</a:t>
            </a:r>
            <a:endParaRPr b="0" lang="en-US" sz="2200" strike="noStrike" u="none">
              <a:solidFill>
                <a:schemeClr val="dk1"/>
              </a:solidFill>
              <a:effectLst/>
              <a:uFillTx/>
              <a:latin typeface="Calibri"/>
            </a:endParaRPr>
          </a:p>
          <a:p>
            <a:pPr lvl="6" marL="3024000" indent="-216000">
              <a:spcBef>
                <a:spcPts val="283"/>
              </a:spcBef>
              <a:buClr>
                <a:srgbClr val="ffffff"/>
              </a:buClr>
              <a:buSzPct val="45000"/>
              <a:buFont typeface="Wingdings" charset="2"/>
              <a:buChar char=""/>
            </a:pPr>
            <a:r>
              <a:rPr b="0" lang="en-US" sz="2200" strike="noStrike" u="none">
                <a:solidFill>
                  <a:schemeClr val="dk1"/>
                </a:solidFill>
                <a:effectLst/>
                <a:uFillTx/>
                <a:latin typeface="Calibri"/>
              </a:rPr>
              <a:t>Seventh Outline Level</a:t>
            </a:r>
            <a:endParaRPr b="0" lang="en-US" sz="2200" strike="noStrike" u="non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_LAYOU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548640" y="320040"/>
            <a:ext cx="11063880" cy="868320"/>
          </a:xfrm>
          <a:prstGeom prst="rect">
            <a:avLst/>
          </a:prstGeom>
          <a:noFill/>
          <a:ln w="0">
            <a:noFill/>
          </a:ln>
        </p:spPr>
        <p:txBody>
          <a:bodyPr lIns="90000" rIns="90000" tIns="45000" bIns="45000" anchor="t">
            <a:noAutofit/>
          </a:bodyPr>
          <a:p>
            <a:pPr indent="0">
              <a:buNone/>
            </a:pPr>
            <a:r>
              <a:rPr b="0" lang="en-US" sz="3400" strike="noStrike" u="none">
                <a:solidFill>
                  <a:schemeClr val="dk1"/>
                </a:solidFill>
                <a:effectLst/>
                <a:uFillTx/>
                <a:latin typeface="Calibri"/>
              </a:rPr>
              <a:t>Click to edit the title text format</a:t>
            </a:r>
            <a:endParaRPr b="0" lang="en-US" sz="3400" strike="noStrike" u="none">
              <a:solidFill>
                <a:schemeClr val="dk1"/>
              </a:solidFill>
              <a:effectLst/>
              <a:uFillTx/>
              <a:latin typeface="Calibri"/>
            </a:endParaRPr>
          </a:p>
        </p:txBody>
      </p:sp>
      <p:sp>
        <p:nvSpPr>
          <p:cNvPr id="3" name="Text 0"/>
          <p:cNvSpPr/>
          <p:nvPr/>
        </p:nvSpPr>
        <p:spPr>
          <a:xfrm>
            <a:off x="548640" y="640080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5b6770"/>
                </a:solidFill>
                <a:effectLst/>
                <a:uFillTx/>
                <a:latin typeface="Calibri"/>
              </a:rPr>
              <a:t>NexAfrica Data Analysis Internship  |  Retail Sales Analytics</a:t>
            </a:r>
            <a:endParaRPr b="0" lang="en-US" sz="1000" strike="noStrike" u="none">
              <a:solidFill>
                <a:srgbClr val="000000"/>
              </a:solidFill>
              <a:effectLst/>
              <a:uFillTx/>
              <a:latin typeface="Arial"/>
            </a:endParaRPr>
          </a:p>
        </p:txBody>
      </p:sp>
      <p:sp>
        <p:nvSpPr>
          <p:cNvPr id="4" name="PlaceHolder 2"/>
          <p:cNvSpPr>
            <a:spLocks noGrp="1"/>
          </p:cNvSpPr>
          <p:nvPr>
            <p:ph type="sldNum" idx="1"/>
          </p:nvPr>
        </p:nvSpPr>
        <p:spPr>
          <a:xfrm>
            <a:off x="11155680" y="6400800"/>
            <a:ext cx="548280" cy="273960"/>
          </a:xfrm>
          <a:prstGeom prst="rect">
            <a:avLst/>
          </a:prstGeom>
          <a:noFill/>
          <a:ln w="0">
            <a:noFill/>
          </a:ln>
        </p:spPr>
        <p:txBody>
          <a:bodyPr lIns="90000" rIns="90000" tIns="45000" bIns="45000" anchor="t">
            <a:noAutofit/>
          </a:bodyPr>
          <a:lstStyle>
            <a:lvl1pPr indent="0" defTabSz="914400">
              <a:lnSpc>
                <a:spcPct val="100000"/>
              </a:lnSpc>
              <a:buNone/>
              <a:defRPr b="0" lang="en-US" sz="1000" strike="noStrike" u="none">
                <a:solidFill>
                  <a:srgbClr val="5b6770"/>
                </a:solidFill>
                <a:effectLst/>
                <a:uFillTx/>
                <a:latin typeface="Calibri"/>
              </a:defRPr>
            </a:lvl1pPr>
          </a:lstStyle>
          <a:p>
            <a:pPr indent="0" defTabSz="914400">
              <a:lnSpc>
                <a:spcPct val="100000"/>
              </a:lnSpc>
              <a:buNone/>
            </a:pPr>
            <a:fld id="{B00C2FD9-3045-4802-8F86-27A29A09D431}" type="slidenum">
              <a:rPr b="0" lang="en-US" sz="1000" strike="noStrike" u="none">
                <a:solidFill>
                  <a:srgbClr val="5b6770"/>
                </a:solidFill>
                <a:effectLst/>
                <a:uFillTx/>
                <a:latin typeface="Calibri"/>
              </a:rPr>
              <a:t>&lt;number&gt;</a:t>
            </a:fld>
            <a:endParaRPr b="0" lang="en-US" sz="1000" strike="noStrike" u="none">
              <a:solidFill>
                <a:srgbClr val="000000"/>
              </a:solidFill>
              <a:effectLst/>
              <a:uFillTx/>
              <a:latin typeface="Times New Roman"/>
            </a:endParaRPr>
          </a:p>
        </p:txBody>
      </p:sp>
      <p:sp>
        <p:nvSpPr>
          <p:cNvPr id="5"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_LAYOUT">
    <p:bg>
      <p:bgPr>
        <a:solidFill>
          <a:srgbClr val="134e4a"/>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731520" y="822960"/>
            <a:ext cx="10698120" cy="1279800"/>
          </a:xfrm>
          <a:prstGeom prst="rect">
            <a:avLst/>
          </a:prstGeom>
          <a:noFill/>
          <a:ln w="0">
            <a:noFill/>
          </a:ln>
        </p:spPr>
        <p:txBody>
          <a:bodyPr lIns="90000" rIns="90000" tIns="45000" bIns="45000" anchor="t">
            <a:noAutofit/>
          </a:bodyPr>
          <a:p>
            <a:pPr indent="0">
              <a:buNone/>
            </a:pPr>
            <a:r>
              <a:rPr b="0" lang="en-US" sz="4000" strike="noStrike" u="none">
                <a:solidFill>
                  <a:schemeClr val="dk1"/>
                </a:solidFill>
                <a:effectLst/>
                <a:uFillTx/>
                <a:latin typeface="Calibri"/>
              </a:rPr>
              <a:t>Click to edit the title text format</a:t>
            </a:r>
            <a:endParaRPr b="0" lang="en-US" sz="4000" strike="noStrike" u="non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3.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PlaceHolder 1"/>
          <p:cNvSpPr>
            <a:spLocks noGrp="1"/>
          </p:cNvSpPr>
          <p:nvPr>
            <p:ph type="title"/>
          </p:nvPr>
        </p:nvSpPr>
        <p:spPr>
          <a:xfrm>
            <a:off x="731520" y="1920240"/>
            <a:ext cx="10698120" cy="1371240"/>
          </a:xfrm>
          <a:prstGeom prst="rect">
            <a:avLst/>
          </a:prstGeom>
          <a:noFill/>
          <a:ln w="0">
            <a:noFill/>
          </a:ln>
        </p:spPr>
        <p:txBody>
          <a:bodyPr lIns="0" rIns="0" tIns="0" bIns="0" anchor="b">
            <a:noAutofit/>
          </a:bodyPr>
          <a:p>
            <a:pPr indent="0" defTabSz="914400">
              <a:lnSpc>
                <a:spcPct val="100000"/>
              </a:lnSpc>
              <a:buNone/>
              <a:tabLst>
                <a:tab algn="l" pos="0"/>
              </a:tabLst>
            </a:pPr>
            <a:r>
              <a:rPr b="1" lang="en-US" sz="5400" strike="noStrike" u="none">
                <a:solidFill>
                  <a:srgbClr val="ffffff"/>
                </a:solidFill>
                <a:effectLst/>
                <a:uFillTx/>
                <a:latin typeface="Cambria"/>
              </a:rPr>
              <a:t>Retail Sales Analytics</a:t>
            </a:r>
            <a:endParaRPr b="0" lang="en-US" sz="5400" strike="noStrike" u="none">
              <a:solidFill>
                <a:schemeClr val="dk1"/>
              </a:solidFill>
              <a:effectLst/>
              <a:uFillTx/>
              <a:latin typeface="Calibri"/>
            </a:endParaRPr>
          </a:p>
        </p:txBody>
      </p:sp>
      <p:sp>
        <p:nvSpPr>
          <p:cNvPr id="14" name="PlaceHolder 2"/>
          <p:cNvSpPr>
            <a:spLocks noGrp="1"/>
          </p:cNvSpPr>
          <p:nvPr>
            <p:ph/>
          </p:nvPr>
        </p:nvSpPr>
        <p:spPr>
          <a:xfrm>
            <a:off x="731520" y="3520440"/>
            <a:ext cx="10058040" cy="1096920"/>
          </a:xfrm>
          <a:prstGeom prst="rect">
            <a:avLst/>
          </a:prstGeom>
          <a:noFill/>
          <a:ln w="0">
            <a:noFill/>
          </a:ln>
        </p:spPr>
        <p:txBody>
          <a:bodyPr lIns="0" rIns="0" tIns="0" bIns="0" anchor="t">
            <a:noAutofit/>
          </a:bodyPr>
          <a:p>
            <a:pPr indent="0" defTabSz="914400">
              <a:lnSpc>
                <a:spcPct val="100000"/>
              </a:lnSpc>
              <a:spcBef>
                <a:spcPts val="439"/>
              </a:spcBef>
              <a:buNone/>
              <a:tabLst>
                <a:tab algn="l" pos="0"/>
              </a:tabLst>
            </a:pPr>
            <a:r>
              <a:rPr b="0" lang="en-US" sz="2200" strike="noStrike" u="none">
                <a:solidFill>
                  <a:srgbClr val="cfe3e0"/>
                </a:solidFill>
                <a:effectLst/>
                <a:uFillTx/>
                <a:latin typeface="Calibri"/>
              </a:rPr>
              <a:t>Superstore sales 2014 to 2017: what drives profit, and what is costing us</a:t>
            </a:r>
            <a:br>
              <a:rPr sz="2200"/>
            </a:br>
            <a:br>
              <a:rPr sz="2200"/>
            </a:br>
            <a:r>
              <a:rPr b="0" lang="en-US" sz="2200" strike="noStrike" u="none">
                <a:solidFill>
                  <a:srgbClr val="cfe3e0"/>
                </a:solidFill>
                <a:effectLst/>
                <a:uFillTx/>
                <a:latin typeface="Calibri"/>
              </a:rPr>
              <a:t>Presented by: AKANDWANAHO ONESMAS</a:t>
            </a:r>
            <a:endParaRPr b="0" lang="en-US" sz="2200" strike="noStrike" u="none">
              <a:solidFill>
                <a:schemeClr val="dk1"/>
              </a:solidFill>
              <a:effectLst/>
              <a:uFillTx/>
              <a:latin typeface="Calibri"/>
            </a:endParaRPr>
          </a:p>
        </p:txBody>
      </p:sp>
      <p:sp>
        <p:nvSpPr>
          <p:cNvPr id="15" name="Programme label"/>
          <p:cNvSpPr/>
          <p:nvPr/>
        </p:nvSpPr>
        <p:spPr>
          <a:xfrm>
            <a:off x="731520" y="576072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trike="noStrike" u="none">
                <a:solidFill>
                  <a:srgbClr val="cfe3e0"/>
                </a:solidFill>
                <a:effectLst/>
                <a:uFillTx/>
                <a:latin typeface="Calibri"/>
              </a:rPr>
              <a:t>NexAfrica Data Analysis Internship  |  Task 1</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p:nvPr>
        </p:nvSpPr>
        <p:spPr>
          <a:xfrm>
            <a:off x="548640" y="320040"/>
            <a:ext cx="11063880" cy="868320"/>
          </a:xfrm>
          <a:prstGeom prst="rect">
            <a:avLst/>
          </a:prstGeom>
          <a:noFill/>
          <a:ln w="0">
            <a:noFill/>
          </a:ln>
        </p:spPr>
        <p:txBody>
          <a:bodyPr lIns="0" rIns="0" tIns="0" bIns="0" anchor="ctr">
            <a:noAutofit/>
          </a:bodyPr>
          <a:p>
            <a:pPr indent="0" defTabSz="914400">
              <a:lnSpc>
                <a:spcPct val="100000"/>
              </a:lnSpc>
              <a:buNone/>
              <a:tabLst>
                <a:tab algn="l" pos="0"/>
              </a:tabLst>
            </a:pPr>
            <a:r>
              <a:rPr b="1" lang="en-US" sz="3400" strike="noStrike" u="none">
                <a:solidFill>
                  <a:srgbClr val="134e4a"/>
                </a:solidFill>
                <a:effectLst/>
                <a:uFillTx/>
                <a:latin typeface="Cambria"/>
              </a:rPr>
              <a:t>The question and the data</a:t>
            </a:r>
            <a:endParaRPr b="0" lang="en-US" sz="3400" strike="noStrike" u="none">
              <a:solidFill>
                <a:schemeClr val="dk1"/>
              </a:solidFill>
              <a:effectLst/>
              <a:uFillTx/>
              <a:latin typeface="Calibri"/>
            </a:endParaRPr>
          </a:p>
        </p:txBody>
      </p:sp>
      <p:sp>
        <p:nvSpPr>
          <p:cNvPr id="17" name="Question and approach"/>
          <p:cNvSpPr/>
          <p:nvPr/>
        </p:nvSpPr>
        <p:spPr>
          <a:xfrm>
            <a:off x="548640" y="1463040"/>
            <a:ext cx="5760360" cy="420588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601"/>
              </a:spcAft>
              <a:tabLst>
                <a:tab algn="l" pos="0"/>
              </a:tabLst>
            </a:pPr>
            <a:r>
              <a:rPr b="1" lang="en-US" sz="2000" strike="noStrike" u="none">
                <a:solidFill>
                  <a:schemeClr val="accent1"/>
                </a:solidFill>
                <a:effectLst/>
                <a:uFillTx/>
                <a:latin typeface="Calibri"/>
              </a:rPr>
              <a:t>The question</a:t>
            </a:r>
            <a:endParaRPr b="0" lang="en-US" sz="2000" strike="noStrike" u="none">
              <a:solidFill>
                <a:srgbClr val="000000"/>
              </a:solidFill>
              <a:effectLst/>
              <a:uFillTx/>
              <a:latin typeface="Arial"/>
            </a:endParaRPr>
          </a:p>
          <a:p>
            <a:pPr defTabSz="914400">
              <a:lnSpc>
                <a:spcPct val="100000"/>
              </a:lnSpc>
              <a:spcAft>
                <a:spcPts val="1800"/>
              </a:spcAft>
              <a:tabLst>
                <a:tab algn="l" pos="0"/>
              </a:tabLst>
            </a:pPr>
            <a:r>
              <a:rPr b="0" lang="en-US" sz="1600" strike="noStrike" u="none">
                <a:solidFill>
                  <a:srgbClr val="000000"/>
                </a:solidFill>
                <a:effectLst/>
                <a:uFillTx/>
                <a:latin typeface="Calibri"/>
              </a:rPr>
              <a:t>How is the business performing across products, customers, regions and time, and what should management do about it?</a:t>
            </a:r>
            <a:endParaRPr b="0" lang="en-US" sz="1600" strike="noStrike" u="none">
              <a:solidFill>
                <a:srgbClr val="000000"/>
              </a:solidFill>
              <a:effectLst/>
              <a:uFillTx/>
              <a:latin typeface="Arial"/>
            </a:endParaRPr>
          </a:p>
          <a:p>
            <a:pPr defTabSz="914400">
              <a:lnSpc>
                <a:spcPct val="100000"/>
              </a:lnSpc>
              <a:spcAft>
                <a:spcPts val="601"/>
              </a:spcAft>
              <a:tabLst>
                <a:tab algn="l" pos="0"/>
              </a:tabLst>
            </a:pPr>
            <a:r>
              <a:rPr b="1" lang="en-US" sz="2000" strike="noStrike" u="none">
                <a:solidFill>
                  <a:schemeClr val="accent1"/>
                </a:solidFill>
                <a:effectLst/>
                <a:uFillTx/>
                <a:latin typeface="Calibri"/>
              </a:rPr>
              <a:t>The approach</a:t>
            </a:r>
            <a:endParaRPr b="0" lang="en-US" sz="2000" strike="noStrike" u="none">
              <a:solidFill>
                <a:srgbClr val="000000"/>
              </a:solidFill>
              <a:effectLst/>
              <a:uFillTx/>
              <a:latin typeface="Arial"/>
            </a:endParaRPr>
          </a:p>
          <a:p>
            <a:pPr defTabSz="914400">
              <a:lnSpc>
                <a:spcPct val="100000"/>
              </a:lnSpc>
              <a:tabLst>
                <a:tab algn="l" pos="0"/>
              </a:tabLst>
            </a:pPr>
            <a:r>
              <a:rPr b="0" lang="en-US" sz="1600" strike="noStrike" u="none">
                <a:solidFill>
                  <a:srgbClr val="000000"/>
                </a:solidFill>
                <a:effectLst/>
                <a:uFillTx/>
                <a:latin typeface="Calibri"/>
              </a:rPr>
              <a:t>Clean the data, calculate KPIs, query it with SQL, segment customers, study cohorts and discounts, then build an interactive dashboard.</a:t>
            </a:r>
            <a:endParaRPr b="0" lang="en-US" sz="1600" strike="noStrike" u="none">
              <a:solidFill>
                <a:srgbClr val="000000"/>
              </a:solidFill>
              <a:effectLst/>
              <a:uFillTx/>
              <a:latin typeface="Arial"/>
            </a:endParaRPr>
          </a:p>
        </p:txBody>
      </p:sp>
      <p:sp>
        <p:nvSpPr>
          <p:cNvPr id="18" name="Stat lines card"/>
          <p:cNvSpPr/>
          <p:nvPr/>
        </p:nvSpPr>
        <p:spPr>
          <a:xfrm>
            <a:off x="6766560" y="1463040"/>
            <a:ext cx="228564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 name="Stat lines value"/>
          <p:cNvSpPr/>
          <p:nvPr/>
        </p:nvSpPr>
        <p:spPr>
          <a:xfrm>
            <a:off x="6949440" y="1600200"/>
            <a:ext cx="191988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9,993</a:t>
            </a:r>
            <a:endParaRPr b="0" lang="en-US" sz="3600" strike="noStrike" u="none">
              <a:solidFill>
                <a:srgbClr val="000000"/>
              </a:solidFill>
              <a:effectLst/>
              <a:uFillTx/>
              <a:latin typeface="Arial"/>
            </a:endParaRPr>
          </a:p>
        </p:txBody>
      </p:sp>
      <p:sp>
        <p:nvSpPr>
          <p:cNvPr id="20" name="Stat lines label"/>
          <p:cNvSpPr/>
          <p:nvPr/>
        </p:nvSpPr>
        <p:spPr>
          <a:xfrm>
            <a:off x="6949440" y="2470680"/>
            <a:ext cx="191988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order lines after cleaning</a:t>
            </a:r>
            <a:endParaRPr b="0" lang="en-US" sz="1400" strike="noStrike" u="none">
              <a:solidFill>
                <a:srgbClr val="000000"/>
              </a:solidFill>
              <a:effectLst/>
              <a:uFillTx/>
              <a:latin typeface="Arial"/>
            </a:endParaRPr>
          </a:p>
        </p:txBody>
      </p:sp>
      <p:sp>
        <p:nvSpPr>
          <p:cNvPr id="21" name="Stat customers card"/>
          <p:cNvSpPr/>
          <p:nvPr/>
        </p:nvSpPr>
        <p:spPr>
          <a:xfrm>
            <a:off x="9326880" y="1463040"/>
            <a:ext cx="228564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 name="Stat customers value"/>
          <p:cNvSpPr/>
          <p:nvPr/>
        </p:nvSpPr>
        <p:spPr>
          <a:xfrm>
            <a:off x="9509760" y="1600200"/>
            <a:ext cx="191988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793</a:t>
            </a:r>
            <a:endParaRPr b="0" lang="en-US" sz="3600" strike="noStrike" u="none">
              <a:solidFill>
                <a:srgbClr val="000000"/>
              </a:solidFill>
              <a:effectLst/>
              <a:uFillTx/>
              <a:latin typeface="Arial"/>
            </a:endParaRPr>
          </a:p>
        </p:txBody>
      </p:sp>
      <p:sp>
        <p:nvSpPr>
          <p:cNvPr id="23" name="Stat customers label"/>
          <p:cNvSpPr/>
          <p:nvPr/>
        </p:nvSpPr>
        <p:spPr>
          <a:xfrm>
            <a:off x="9509760" y="2470680"/>
            <a:ext cx="191988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customers</a:t>
            </a:r>
            <a:endParaRPr b="0" lang="en-US" sz="1400" strike="noStrike" u="none">
              <a:solidFill>
                <a:srgbClr val="000000"/>
              </a:solidFill>
              <a:effectLst/>
              <a:uFillTx/>
              <a:latin typeface="Arial"/>
            </a:endParaRPr>
          </a:p>
        </p:txBody>
      </p:sp>
      <p:sp>
        <p:nvSpPr>
          <p:cNvPr id="24" name="Stat orders card"/>
          <p:cNvSpPr/>
          <p:nvPr/>
        </p:nvSpPr>
        <p:spPr>
          <a:xfrm>
            <a:off x="6766560" y="3474720"/>
            <a:ext cx="228564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 name="Stat orders value"/>
          <p:cNvSpPr/>
          <p:nvPr/>
        </p:nvSpPr>
        <p:spPr>
          <a:xfrm>
            <a:off x="6949440" y="3611880"/>
            <a:ext cx="191988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5,009</a:t>
            </a:r>
            <a:endParaRPr b="0" lang="en-US" sz="3600" strike="noStrike" u="none">
              <a:solidFill>
                <a:srgbClr val="000000"/>
              </a:solidFill>
              <a:effectLst/>
              <a:uFillTx/>
              <a:latin typeface="Arial"/>
            </a:endParaRPr>
          </a:p>
        </p:txBody>
      </p:sp>
      <p:sp>
        <p:nvSpPr>
          <p:cNvPr id="26" name="Stat orders label"/>
          <p:cNvSpPr/>
          <p:nvPr/>
        </p:nvSpPr>
        <p:spPr>
          <a:xfrm>
            <a:off x="6949440" y="4482360"/>
            <a:ext cx="191988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orders</a:t>
            </a:r>
            <a:endParaRPr b="0" lang="en-US" sz="1400" strike="noStrike" u="none">
              <a:solidFill>
                <a:srgbClr val="000000"/>
              </a:solidFill>
              <a:effectLst/>
              <a:uFillTx/>
              <a:latin typeface="Arial"/>
            </a:endParaRPr>
          </a:p>
        </p:txBody>
      </p:sp>
      <p:sp>
        <p:nvSpPr>
          <p:cNvPr id="27" name="Stat products card"/>
          <p:cNvSpPr/>
          <p:nvPr/>
        </p:nvSpPr>
        <p:spPr>
          <a:xfrm>
            <a:off x="9326880" y="3474720"/>
            <a:ext cx="228564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 name="Stat products value"/>
          <p:cNvSpPr/>
          <p:nvPr/>
        </p:nvSpPr>
        <p:spPr>
          <a:xfrm>
            <a:off x="9509760" y="3611880"/>
            <a:ext cx="191988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1,850</a:t>
            </a:r>
            <a:endParaRPr b="0" lang="en-US" sz="3600" strike="noStrike" u="none">
              <a:solidFill>
                <a:srgbClr val="000000"/>
              </a:solidFill>
              <a:effectLst/>
              <a:uFillTx/>
              <a:latin typeface="Arial"/>
            </a:endParaRPr>
          </a:p>
        </p:txBody>
      </p:sp>
      <p:sp>
        <p:nvSpPr>
          <p:cNvPr id="29" name="Stat products label"/>
          <p:cNvSpPr/>
          <p:nvPr/>
        </p:nvSpPr>
        <p:spPr>
          <a:xfrm>
            <a:off x="9509760" y="4482360"/>
            <a:ext cx="191988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products</a:t>
            </a:r>
            <a:endParaRPr b="0" lang="en-US" sz="1400" strike="noStrike" u="none">
              <a:solidFill>
                <a:srgbClr val="000000"/>
              </a:solidFill>
              <a:effectLst/>
              <a:uFillTx/>
              <a:latin typeface="Arial"/>
            </a:endParaRPr>
          </a:p>
        </p:txBody>
      </p:sp>
      <p:sp>
        <p:nvSpPr>
          <p:cNvPr id="30" name="Data scope"/>
          <p:cNvSpPr/>
          <p:nvPr/>
        </p:nvSpPr>
        <p:spPr>
          <a:xfrm>
            <a:off x="6766560" y="5486400"/>
            <a:ext cx="4845960" cy="639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accent5"/>
                </a:solidFill>
                <a:effectLst/>
                <a:uFillTx/>
                <a:latin typeface="Calibri"/>
              </a:rPr>
              <a:t>January 2014 to December 2017</a:t>
            </a:r>
            <a:endParaRPr b="0" lang="en-US" sz="1400" strike="noStrike" u="none">
              <a:solidFill>
                <a:srgbClr val="000000"/>
              </a:solidFill>
              <a:effectLst/>
              <a:uFillTx/>
              <a:latin typeface="Arial"/>
            </a:endParaRPr>
          </a:p>
          <a:p>
            <a:pPr defTabSz="914400">
              <a:lnSpc>
                <a:spcPct val="100000"/>
              </a:lnSpc>
              <a:tabLst>
                <a:tab algn="l" pos="0"/>
              </a:tabLst>
            </a:pPr>
            <a:r>
              <a:rPr b="0" lang="en-US" sz="1400" strike="noStrike" u="none">
                <a:solidFill>
                  <a:schemeClr val="accent5"/>
                </a:solidFill>
                <a:effectLst/>
                <a:uFillTx/>
                <a:latin typeface="Calibri"/>
              </a:rPr>
              <a:t>4 regions  |  3 categories  |  17 sub-categories</a:t>
            </a:r>
            <a:endParaRPr b="0" lang="en-US" sz="1400" strike="noStrike" u="none">
              <a:solidFill>
                <a:srgbClr val="000000"/>
              </a:solidFill>
              <a:effectLst/>
              <a:uFillTx/>
              <a:latin typeface="Arial"/>
            </a:endParaRPr>
          </a:p>
        </p:txBody>
      </p:sp>
      <p:sp>
        <p:nvSpPr>
          <p:cNvPr id="31" name="PlaceHolder 2"/>
          <p:cNvSpPr>
            <a:spLocks noGrp="1"/>
          </p:cNvSpPr>
          <p:nvPr>
            <p:ph type="sldNum" idx="5"/>
          </p:nvPr>
        </p:nvSpPr>
        <p:spPr>
          <a:xfrm>
            <a:off x="11155680" y="6400800"/>
            <a:ext cx="548280" cy="273960"/>
          </a:xfrm>
          <a:prstGeom prst="rect">
            <a:avLst/>
          </a:prstGeom>
          <a:noFill/>
          <a:ln w="0">
            <a:noFill/>
          </a:ln>
        </p:spPr>
        <p:txBody>
          <a:bodyPr lIns="90000" rIns="90000" tIns="45000" bIns="45000" anchor="t">
            <a:noAutofit/>
          </a:bodyPr>
          <a:lstStyle>
            <a:lvl1pPr indent="0" defTabSz="914400">
              <a:lnSpc>
                <a:spcPct val="100000"/>
              </a:lnSpc>
              <a:buNone/>
              <a:defRPr b="0" lang="en-US" sz="1000" strike="noStrike" u="none">
                <a:solidFill>
                  <a:srgbClr val="5b6770"/>
                </a:solidFill>
                <a:effectLst/>
                <a:uFillTx/>
                <a:latin typeface="Calibri"/>
              </a:defRPr>
            </a:lvl1pPr>
          </a:lstStyle>
          <a:p>
            <a:pPr indent="0" defTabSz="914400">
              <a:lnSpc>
                <a:spcPct val="100000"/>
              </a:lnSpc>
              <a:buNone/>
            </a:pPr>
            <a:fld id="{E98AF4A7-A0F8-42BD-A613-343F7FE4E8F4}" type="slidenum">
              <a:rPr b="0" lang="en-US" sz="1000" strike="noStrike" u="none">
                <a:solidFill>
                  <a:srgbClr val="5b6770"/>
                </a:solidFill>
                <a:effectLst/>
                <a:uFillTx/>
                <a:latin typeface="Calibri"/>
              </a:rPr>
              <a:t>2</a:t>
            </a:fld>
            <a:endParaRPr b="0" lang="en-US" sz="1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PlaceHolder 1"/>
          <p:cNvSpPr>
            <a:spLocks noGrp="1"/>
          </p:cNvSpPr>
          <p:nvPr>
            <p:ph type="title"/>
          </p:nvPr>
        </p:nvSpPr>
        <p:spPr>
          <a:xfrm>
            <a:off x="548640" y="320040"/>
            <a:ext cx="11063880" cy="868320"/>
          </a:xfrm>
          <a:prstGeom prst="rect">
            <a:avLst/>
          </a:prstGeom>
          <a:noFill/>
          <a:ln w="0">
            <a:noFill/>
          </a:ln>
        </p:spPr>
        <p:txBody>
          <a:bodyPr lIns="0" rIns="0" tIns="0" bIns="0" anchor="ctr">
            <a:noAutofit/>
          </a:bodyPr>
          <a:p>
            <a:pPr indent="0" defTabSz="914400">
              <a:lnSpc>
                <a:spcPct val="100000"/>
              </a:lnSpc>
              <a:buNone/>
              <a:tabLst>
                <a:tab algn="l" pos="0"/>
              </a:tabLst>
            </a:pPr>
            <a:r>
              <a:rPr b="1" lang="en-US" sz="3400" strike="noStrike" u="none">
                <a:solidFill>
                  <a:srgbClr val="134e4a"/>
                </a:solidFill>
                <a:effectLst/>
                <a:uFillTx/>
                <a:latin typeface="Cambria"/>
              </a:rPr>
              <a:t>The business at a glance</a:t>
            </a:r>
            <a:endParaRPr b="0" lang="en-US" sz="3400" strike="noStrike" u="none">
              <a:solidFill>
                <a:schemeClr val="dk1"/>
              </a:solidFill>
              <a:effectLst/>
              <a:uFillTx/>
              <a:latin typeface="Calibri"/>
            </a:endParaRPr>
          </a:p>
        </p:txBody>
      </p:sp>
      <p:sp>
        <p:nvSpPr>
          <p:cNvPr id="33" name="KPI Total sales card"/>
          <p:cNvSpPr/>
          <p:nvPr/>
        </p:nvSpPr>
        <p:spPr>
          <a:xfrm>
            <a:off x="548640" y="1463040"/>
            <a:ext cx="260568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 name="KPI Total sales value"/>
          <p:cNvSpPr/>
          <p:nvPr/>
        </p:nvSpPr>
        <p:spPr>
          <a:xfrm>
            <a:off x="731520" y="1600200"/>
            <a:ext cx="223992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$2.30M</a:t>
            </a:r>
            <a:endParaRPr b="0" lang="en-US" sz="3600" strike="noStrike" u="none">
              <a:solidFill>
                <a:srgbClr val="000000"/>
              </a:solidFill>
              <a:effectLst/>
              <a:uFillTx/>
              <a:latin typeface="Arial"/>
            </a:endParaRPr>
          </a:p>
        </p:txBody>
      </p:sp>
      <p:sp>
        <p:nvSpPr>
          <p:cNvPr id="35" name="KPI Total sales label"/>
          <p:cNvSpPr/>
          <p:nvPr/>
        </p:nvSpPr>
        <p:spPr>
          <a:xfrm>
            <a:off x="731520" y="2470680"/>
            <a:ext cx="223992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Total sales</a:t>
            </a:r>
            <a:endParaRPr b="0" lang="en-US" sz="1400" strike="noStrike" u="none">
              <a:solidFill>
                <a:srgbClr val="000000"/>
              </a:solidFill>
              <a:effectLst/>
              <a:uFillTx/>
              <a:latin typeface="Arial"/>
            </a:endParaRPr>
          </a:p>
        </p:txBody>
      </p:sp>
      <p:sp>
        <p:nvSpPr>
          <p:cNvPr id="36" name="KPI Total profit card"/>
          <p:cNvSpPr/>
          <p:nvPr/>
        </p:nvSpPr>
        <p:spPr>
          <a:xfrm>
            <a:off x="3376800" y="1463040"/>
            <a:ext cx="260568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 name="KPI Total profit value"/>
          <p:cNvSpPr/>
          <p:nvPr/>
        </p:nvSpPr>
        <p:spPr>
          <a:xfrm>
            <a:off x="3559680" y="1600200"/>
            <a:ext cx="223992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$286K</a:t>
            </a:r>
            <a:endParaRPr b="0" lang="en-US" sz="3600" strike="noStrike" u="none">
              <a:solidFill>
                <a:srgbClr val="000000"/>
              </a:solidFill>
              <a:effectLst/>
              <a:uFillTx/>
              <a:latin typeface="Arial"/>
            </a:endParaRPr>
          </a:p>
        </p:txBody>
      </p:sp>
      <p:sp>
        <p:nvSpPr>
          <p:cNvPr id="38" name="KPI Total profit label"/>
          <p:cNvSpPr/>
          <p:nvPr/>
        </p:nvSpPr>
        <p:spPr>
          <a:xfrm>
            <a:off x="3559680" y="2470680"/>
            <a:ext cx="223992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Total profit</a:t>
            </a:r>
            <a:endParaRPr b="0" lang="en-US" sz="1400" strike="noStrike" u="none">
              <a:solidFill>
                <a:srgbClr val="000000"/>
              </a:solidFill>
              <a:effectLst/>
              <a:uFillTx/>
              <a:latin typeface="Arial"/>
            </a:endParaRPr>
          </a:p>
        </p:txBody>
      </p:sp>
      <p:sp>
        <p:nvSpPr>
          <p:cNvPr id="39" name="KPI Profit margin card"/>
          <p:cNvSpPr/>
          <p:nvPr/>
        </p:nvSpPr>
        <p:spPr>
          <a:xfrm>
            <a:off x="6204960" y="1463040"/>
            <a:ext cx="260568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 name="KPI Profit margin value"/>
          <p:cNvSpPr/>
          <p:nvPr/>
        </p:nvSpPr>
        <p:spPr>
          <a:xfrm>
            <a:off x="6387840" y="1600200"/>
            <a:ext cx="223992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12.5%</a:t>
            </a:r>
            <a:endParaRPr b="0" lang="en-US" sz="3600" strike="noStrike" u="none">
              <a:solidFill>
                <a:srgbClr val="000000"/>
              </a:solidFill>
              <a:effectLst/>
              <a:uFillTx/>
              <a:latin typeface="Arial"/>
            </a:endParaRPr>
          </a:p>
        </p:txBody>
      </p:sp>
      <p:sp>
        <p:nvSpPr>
          <p:cNvPr id="41" name="KPI Profit margin label"/>
          <p:cNvSpPr/>
          <p:nvPr/>
        </p:nvSpPr>
        <p:spPr>
          <a:xfrm>
            <a:off x="6387840" y="2470680"/>
            <a:ext cx="223992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Profit margin</a:t>
            </a:r>
            <a:endParaRPr b="0" lang="en-US" sz="1400" strike="noStrike" u="none">
              <a:solidFill>
                <a:srgbClr val="000000"/>
              </a:solidFill>
              <a:effectLst/>
              <a:uFillTx/>
              <a:latin typeface="Arial"/>
            </a:endParaRPr>
          </a:p>
        </p:txBody>
      </p:sp>
      <p:sp>
        <p:nvSpPr>
          <p:cNvPr id="42" name="KPI Total orders card"/>
          <p:cNvSpPr/>
          <p:nvPr/>
        </p:nvSpPr>
        <p:spPr>
          <a:xfrm>
            <a:off x="9033480" y="1463040"/>
            <a:ext cx="260568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3" name="KPI Total orders value"/>
          <p:cNvSpPr/>
          <p:nvPr/>
        </p:nvSpPr>
        <p:spPr>
          <a:xfrm>
            <a:off x="9216360" y="1600200"/>
            <a:ext cx="223992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5,009</a:t>
            </a:r>
            <a:endParaRPr b="0" lang="en-US" sz="3600" strike="noStrike" u="none">
              <a:solidFill>
                <a:srgbClr val="000000"/>
              </a:solidFill>
              <a:effectLst/>
              <a:uFillTx/>
              <a:latin typeface="Arial"/>
            </a:endParaRPr>
          </a:p>
        </p:txBody>
      </p:sp>
      <p:sp>
        <p:nvSpPr>
          <p:cNvPr id="44" name="KPI Total orders label"/>
          <p:cNvSpPr/>
          <p:nvPr/>
        </p:nvSpPr>
        <p:spPr>
          <a:xfrm>
            <a:off x="9216360" y="2470680"/>
            <a:ext cx="223992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Total orders</a:t>
            </a:r>
            <a:endParaRPr b="0" lang="en-US" sz="1400" strike="noStrike" u="none">
              <a:solidFill>
                <a:srgbClr val="000000"/>
              </a:solidFill>
              <a:effectLst/>
              <a:uFillTx/>
              <a:latin typeface="Arial"/>
            </a:endParaRPr>
          </a:p>
        </p:txBody>
      </p:sp>
      <p:sp>
        <p:nvSpPr>
          <p:cNvPr id="45" name="KPI Total customers card"/>
          <p:cNvSpPr/>
          <p:nvPr/>
        </p:nvSpPr>
        <p:spPr>
          <a:xfrm>
            <a:off x="548640" y="3474720"/>
            <a:ext cx="260568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 name="KPI Total customers value"/>
          <p:cNvSpPr/>
          <p:nvPr/>
        </p:nvSpPr>
        <p:spPr>
          <a:xfrm>
            <a:off x="731520" y="3611880"/>
            <a:ext cx="223992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793</a:t>
            </a:r>
            <a:endParaRPr b="0" lang="en-US" sz="3600" strike="noStrike" u="none">
              <a:solidFill>
                <a:srgbClr val="000000"/>
              </a:solidFill>
              <a:effectLst/>
              <a:uFillTx/>
              <a:latin typeface="Arial"/>
            </a:endParaRPr>
          </a:p>
        </p:txBody>
      </p:sp>
      <p:sp>
        <p:nvSpPr>
          <p:cNvPr id="47" name="KPI Total customers label"/>
          <p:cNvSpPr/>
          <p:nvPr/>
        </p:nvSpPr>
        <p:spPr>
          <a:xfrm>
            <a:off x="731520" y="4482360"/>
            <a:ext cx="223992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Total customers</a:t>
            </a:r>
            <a:endParaRPr b="0" lang="en-US" sz="1400" strike="noStrike" u="none">
              <a:solidFill>
                <a:srgbClr val="000000"/>
              </a:solidFill>
              <a:effectLst/>
              <a:uFillTx/>
              <a:latin typeface="Arial"/>
            </a:endParaRPr>
          </a:p>
        </p:txBody>
      </p:sp>
      <p:sp>
        <p:nvSpPr>
          <p:cNvPr id="48" name="KPI Units sold card"/>
          <p:cNvSpPr/>
          <p:nvPr/>
        </p:nvSpPr>
        <p:spPr>
          <a:xfrm>
            <a:off x="3376800" y="3474720"/>
            <a:ext cx="260568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9" name="KPI Units sold value"/>
          <p:cNvSpPr/>
          <p:nvPr/>
        </p:nvSpPr>
        <p:spPr>
          <a:xfrm>
            <a:off x="3559680" y="3611880"/>
            <a:ext cx="223992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37,871</a:t>
            </a:r>
            <a:endParaRPr b="0" lang="en-US" sz="3600" strike="noStrike" u="none">
              <a:solidFill>
                <a:srgbClr val="000000"/>
              </a:solidFill>
              <a:effectLst/>
              <a:uFillTx/>
              <a:latin typeface="Arial"/>
            </a:endParaRPr>
          </a:p>
        </p:txBody>
      </p:sp>
      <p:sp>
        <p:nvSpPr>
          <p:cNvPr id="50" name="KPI Units sold label"/>
          <p:cNvSpPr/>
          <p:nvPr/>
        </p:nvSpPr>
        <p:spPr>
          <a:xfrm>
            <a:off x="3559680" y="4482360"/>
            <a:ext cx="223992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Units sold</a:t>
            </a:r>
            <a:endParaRPr b="0" lang="en-US" sz="1400" strike="noStrike" u="none">
              <a:solidFill>
                <a:srgbClr val="000000"/>
              </a:solidFill>
              <a:effectLst/>
              <a:uFillTx/>
              <a:latin typeface="Arial"/>
            </a:endParaRPr>
          </a:p>
        </p:txBody>
      </p:sp>
      <p:sp>
        <p:nvSpPr>
          <p:cNvPr id="51" name="KPI Average order value card"/>
          <p:cNvSpPr/>
          <p:nvPr/>
        </p:nvSpPr>
        <p:spPr>
          <a:xfrm>
            <a:off x="6204960" y="3474720"/>
            <a:ext cx="2605680" cy="1737000"/>
          </a:xfrm>
          <a:prstGeom prst="roundRect">
            <a:avLst>
              <a:gd name="adj" fmla="val 6316"/>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 name="KPI Average order value value"/>
          <p:cNvSpPr/>
          <p:nvPr/>
        </p:nvSpPr>
        <p:spPr>
          <a:xfrm>
            <a:off x="6387840" y="3611880"/>
            <a:ext cx="223992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$458.56</a:t>
            </a:r>
            <a:endParaRPr b="0" lang="en-US" sz="3600" strike="noStrike" u="none">
              <a:solidFill>
                <a:srgbClr val="000000"/>
              </a:solidFill>
              <a:effectLst/>
              <a:uFillTx/>
              <a:latin typeface="Arial"/>
            </a:endParaRPr>
          </a:p>
        </p:txBody>
      </p:sp>
      <p:sp>
        <p:nvSpPr>
          <p:cNvPr id="53" name="KPI Average order value label"/>
          <p:cNvSpPr/>
          <p:nvPr/>
        </p:nvSpPr>
        <p:spPr>
          <a:xfrm>
            <a:off x="6387840" y="4482360"/>
            <a:ext cx="2239920" cy="624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Average order value</a:t>
            </a:r>
            <a:endParaRPr b="0" lang="en-US" sz="1400" strike="noStrike" u="none">
              <a:solidFill>
                <a:srgbClr val="000000"/>
              </a:solidFill>
              <a:effectLst/>
              <a:uFillTx/>
              <a:latin typeface="Arial"/>
            </a:endParaRPr>
          </a:p>
        </p:txBody>
      </p:sp>
      <p:sp>
        <p:nvSpPr>
          <p:cNvPr id="54" name="Insight card"/>
          <p:cNvSpPr/>
          <p:nvPr/>
        </p:nvSpPr>
        <p:spPr>
          <a:xfrm>
            <a:off x="9033480" y="3474720"/>
            <a:ext cx="2605680" cy="1737000"/>
          </a:xfrm>
          <a:prstGeom prst="roundRect">
            <a:avLst>
              <a:gd name="adj" fmla="val 6316"/>
            </a:avLst>
          </a:prstGeom>
          <a:solidFill>
            <a:schemeClr val="accent1"/>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5" name="Insight text"/>
          <p:cNvSpPr/>
          <p:nvPr/>
        </p:nvSpPr>
        <p:spPr>
          <a:xfrm>
            <a:off x="9262080" y="3657600"/>
            <a:ext cx="2148480" cy="1371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chemeClr val="lt1"/>
                </a:solidFill>
                <a:effectLst/>
                <a:uFillTx/>
                <a:latin typeface="Calibri"/>
              </a:rPr>
              <a:t>About 12 cents of profit for every dollar of sales</a:t>
            </a:r>
            <a:endParaRPr b="0" lang="en-US" sz="1800" strike="noStrike" u="none">
              <a:solidFill>
                <a:srgbClr val="000000"/>
              </a:solidFill>
              <a:effectLst/>
              <a:uFillTx/>
              <a:latin typeface="Arial"/>
            </a:endParaRPr>
          </a:p>
        </p:txBody>
      </p:sp>
      <p:sp>
        <p:nvSpPr>
          <p:cNvPr id="56" name="KPI note"/>
          <p:cNvSpPr/>
          <p:nvPr/>
        </p:nvSpPr>
        <p:spPr>
          <a:xfrm>
            <a:off x="548640" y="557784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chemeClr val="accent5"/>
                </a:solidFill>
                <a:effectLst/>
                <a:uFillTx/>
                <a:latin typeface="Calibri"/>
              </a:rPr>
              <a:t>Totals for all years and regions, January 2014 to December 2017.</a:t>
            </a:r>
            <a:endParaRPr b="0" lang="en-US" sz="1200" strike="noStrike" u="none">
              <a:solidFill>
                <a:srgbClr val="000000"/>
              </a:solidFill>
              <a:effectLst/>
              <a:uFillTx/>
              <a:latin typeface="Arial"/>
            </a:endParaRPr>
          </a:p>
        </p:txBody>
      </p:sp>
      <p:sp>
        <p:nvSpPr>
          <p:cNvPr id="57" name="PlaceHolder 2"/>
          <p:cNvSpPr>
            <a:spLocks noGrp="1"/>
          </p:cNvSpPr>
          <p:nvPr>
            <p:ph type="sldNum" idx="6"/>
          </p:nvPr>
        </p:nvSpPr>
        <p:spPr>
          <a:xfrm>
            <a:off x="11155680" y="6400800"/>
            <a:ext cx="548280" cy="273960"/>
          </a:xfrm>
          <a:prstGeom prst="rect">
            <a:avLst/>
          </a:prstGeom>
          <a:noFill/>
          <a:ln w="0">
            <a:noFill/>
          </a:ln>
        </p:spPr>
        <p:txBody>
          <a:bodyPr lIns="90000" rIns="90000" tIns="45000" bIns="45000" anchor="t">
            <a:noAutofit/>
          </a:bodyPr>
          <a:lstStyle>
            <a:lvl1pPr indent="0" defTabSz="914400">
              <a:lnSpc>
                <a:spcPct val="100000"/>
              </a:lnSpc>
              <a:buNone/>
              <a:defRPr b="0" lang="en-US" sz="1000" strike="noStrike" u="none">
                <a:solidFill>
                  <a:srgbClr val="5b6770"/>
                </a:solidFill>
                <a:effectLst/>
                <a:uFillTx/>
                <a:latin typeface="Calibri"/>
              </a:defRPr>
            </a:lvl1pPr>
          </a:lstStyle>
          <a:p>
            <a:pPr indent="0" defTabSz="914400">
              <a:lnSpc>
                <a:spcPct val="100000"/>
              </a:lnSpc>
              <a:buNone/>
            </a:pPr>
            <a:fld id="{FAB2F386-64A6-4EAE-A157-47590E86E7BD}" type="slidenum">
              <a:rPr b="0" lang="en-US" sz="1000" strike="noStrike" u="none">
                <a:solidFill>
                  <a:srgbClr val="5b6770"/>
                </a:solidFill>
                <a:effectLst/>
                <a:uFillTx/>
                <a:latin typeface="Calibri"/>
              </a:rPr>
              <a:t>3</a:t>
            </a:fld>
            <a:endParaRPr b="0" lang="en-US" sz="1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548640" y="320040"/>
            <a:ext cx="11063880" cy="868320"/>
          </a:xfrm>
          <a:prstGeom prst="rect">
            <a:avLst/>
          </a:prstGeom>
          <a:noFill/>
          <a:ln w="0">
            <a:noFill/>
          </a:ln>
        </p:spPr>
        <p:txBody>
          <a:bodyPr lIns="0" rIns="0" tIns="0" bIns="0" anchor="ctr">
            <a:noAutofit/>
          </a:bodyPr>
          <a:p>
            <a:pPr indent="0" defTabSz="914400">
              <a:lnSpc>
                <a:spcPct val="100000"/>
              </a:lnSpc>
              <a:buNone/>
              <a:tabLst>
                <a:tab algn="l" pos="0"/>
              </a:tabLst>
            </a:pPr>
            <a:r>
              <a:rPr b="1" lang="en-US" sz="3400" strike="noStrike" u="none">
                <a:solidFill>
                  <a:srgbClr val="134e4a"/>
                </a:solidFill>
                <a:effectLst/>
                <a:uFillTx/>
                <a:latin typeface="Cambria"/>
              </a:rPr>
              <a:t>Sales are growing and peak every autumn</a:t>
            </a:r>
            <a:endParaRPr b="0" lang="en-US" sz="3400" strike="noStrike" u="none">
              <a:solidFill>
                <a:schemeClr val="dk1"/>
              </a:solidFill>
              <a:effectLst/>
              <a:uFillTx/>
              <a:latin typeface="Calibri"/>
            </a:endParaRPr>
          </a:p>
        </p:txBody>
      </p:sp>
      <p:graphicFrame>
        <p:nvGraphicFramePr>
          <p:cNvPr id="59" name="Monthly sales chart"/>
          <p:cNvGraphicFramePr/>
          <p:nvPr/>
        </p:nvGraphicFramePr>
        <p:xfrm>
          <a:off x="548640" y="1371600"/>
          <a:ext cx="7680600" cy="4754520"/>
        </p:xfrm>
        <a:graphic>
          <a:graphicData uri="http://schemas.openxmlformats.org/drawingml/2006/chart">
            <c:chart xmlns:c="http://schemas.openxmlformats.org/drawingml/2006/chart" xmlns:r="http://schemas.openxmlformats.org/officeDocument/2006/relationships" r:id="rId1"/>
          </a:graphicData>
        </a:graphic>
      </p:graphicFrame>
      <p:sp>
        <p:nvSpPr>
          <p:cNvPr id="60" name="Stat growth 2016 card"/>
          <p:cNvSpPr/>
          <p:nvPr/>
        </p:nvSpPr>
        <p:spPr>
          <a:xfrm>
            <a:off x="8503920" y="1371600"/>
            <a:ext cx="3108600" cy="1416960"/>
          </a:xfrm>
          <a:prstGeom prst="roundRect">
            <a:avLst>
              <a:gd name="adj" fmla="val 7742"/>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1" name="Stat growth 2016 value"/>
          <p:cNvSpPr/>
          <p:nvPr/>
        </p:nvSpPr>
        <p:spPr>
          <a:xfrm>
            <a:off x="8686800" y="1508760"/>
            <a:ext cx="2742840" cy="70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+29.5%</a:t>
            </a:r>
            <a:endParaRPr b="0" lang="en-US" sz="3600" strike="noStrike" u="none">
              <a:solidFill>
                <a:srgbClr val="000000"/>
              </a:solidFill>
              <a:effectLst/>
              <a:uFillTx/>
              <a:latin typeface="Arial"/>
            </a:endParaRPr>
          </a:p>
        </p:txBody>
      </p:sp>
      <p:sp>
        <p:nvSpPr>
          <p:cNvPr id="62" name="Stat growth 2016 label"/>
          <p:cNvSpPr/>
          <p:nvPr/>
        </p:nvSpPr>
        <p:spPr>
          <a:xfrm>
            <a:off x="8686800" y="2193480"/>
            <a:ext cx="2742840" cy="509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sales growth in 2016</a:t>
            </a:r>
            <a:endParaRPr b="0" lang="en-US" sz="1400" strike="noStrike" u="none">
              <a:solidFill>
                <a:srgbClr val="000000"/>
              </a:solidFill>
              <a:effectLst/>
              <a:uFillTx/>
              <a:latin typeface="Arial"/>
            </a:endParaRPr>
          </a:p>
        </p:txBody>
      </p:sp>
      <p:sp>
        <p:nvSpPr>
          <p:cNvPr id="63" name="Stat growth 2017 card"/>
          <p:cNvSpPr/>
          <p:nvPr/>
        </p:nvSpPr>
        <p:spPr>
          <a:xfrm>
            <a:off x="8503920" y="2971800"/>
            <a:ext cx="3108600" cy="1416960"/>
          </a:xfrm>
          <a:prstGeom prst="roundRect">
            <a:avLst>
              <a:gd name="adj" fmla="val 7742"/>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4" name="Stat growth 2017 value"/>
          <p:cNvSpPr/>
          <p:nvPr/>
        </p:nvSpPr>
        <p:spPr>
          <a:xfrm>
            <a:off x="8686800" y="3108960"/>
            <a:ext cx="2742840" cy="70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+20.4%</a:t>
            </a:r>
            <a:endParaRPr b="0" lang="en-US" sz="3600" strike="noStrike" u="none">
              <a:solidFill>
                <a:srgbClr val="000000"/>
              </a:solidFill>
              <a:effectLst/>
              <a:uFillTx/>
              <a:latin typeface="Arial"/>
            </a:endParaRPr>
          </a:p>
        </p:txBody>
      </p:sp>
      <p:sp>
        <p:nvSpPr>
          <p:cNvPr id="65" name="Stat growth 2017 label"/>
          <p:cNvSpPr/>
          <p:nvPr/>
        </p:nvSpPr>
        <p:spPr>
          <a:xfrm>
            <a:off x="8686800" y="3793680"/>
            <a:ext cx="2742840" cy="509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sales growth in 2017</a:t>
            </a:r>
            <a:endParaRPr b="0" lang="en-US" sz="1400" strike="noStrike" u="none">
              <a:solidFill>
                <a:srgbClr val="000000"/>
              </a:solidFill>
              <a:effectLst/>
              <a:uFillTx/>
              <a:latin typeface="Arial"/>
            </a:endParaRPr>
          </a:p>
        </p:txBody>
      </p:sp>
      <p:sp>
        <p:nvSpPr>
          <p:cNvPr id="66" name="Stat seasonal card"/>
          <p:cNvSpPr/>
          <p:nvPr/>
        </p:nvSpPr>
        <p:spPr>
          <a:xfrm>
            <a:off x="8503920" y="4572000"/>
            <a:ext cx="3108600" cy="1554120"/>
          </a:xfrm>
          <a:prstGeom prst="roundRect">
            <a:avLst>
              <a:gd name="adj" fmla="val 7059"/>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 name="Stat seasonal value"/>
          <p:cNvSpPr/>
          <p:nvPr/>
        </p:nvSpPr>
        <p:spPr>
          <a:xfrm>
            <a:off x="8686800" y="4709160"/>
            <a:ext cx="2742840" cy="77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43%</a:t>
            </a:r>
            <a:endParaRPr b="0" lang="en-US" sz="3600" strike="noStrike" u="none">
              <a:solidFill>
                <a:srgbClr val="000000"/>
              </a:solidFill>
              <a:effectLst/>
              <a:uFillTx/>
              <a:latin typeface="Arial"/>
            </a:endParaRPr>
          </a:p>
        </p:txBody>
      </p:sp>
      <p:sp>
        <p:nvSpPr>
          <p:cNvPr id="68" name="Stat seasonal label"/>
          <p:cNvSpPr/>
          <p:nvPr/>
        </p:nvSpPr>
        <p:spPr>
          <a:xfrm>
            <a:off x="8686800" y="5473440"/>
            <a:ext cx="2742840" cy="5590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of sales come in Sep, Nov and Dec</a:t>
            </a:r>
            <a:endParaRPr b="0" lang="en-US" sz="1400" strike="noStrike" u="none">
              <a:solidFill>
                <a:srgbClr val="000000"/>
              </a:solidFill>
              <a:effectLst/>
              <a:uFillTx/>
              <a:latin typeface="Arial"/>
            </a:endParaRPr>
          </a:p>
        </p:txBody>
      </p:sp>
      <p:sp>
        <p:nvSpPr>
          <p:cNvPr id="69" name="PlaceHolder 2"/>
          <p:cNvSpPr>
            <a:spLocks noGrp="1"/>
          </p:cNvSpPr>
          <p:nvPr>
            <p:ph type="sldNum" idx="7"/>
          </p:nvPr>
        </p:nvSpPr>
        <p:spPr>
          <a:xfrm>
            <a:off x="11155680" y="6400800"/>
            <a:ext cx="548280" cy="273960"/>
          </a:xfrm>
          <a:prstGeom prst="rect">
            <a:avLst/>
          </a:prstGeom>
          <a:noFill/>
          <a:ln w="0">
            <a:noFill/>
          </a:ln>
        </p:spPr>
        <p:txBody>
          <a:bodyPr lIns="90000" rIns="90000" tIns="45000" bIns="45000" anchor="t">
            <a:noAutofit/>
          </a:bodyPr>
          <a:lstStyle>
            <a:lvl1pPr indent="0" defTabSz="914400">
              <a:lnSpc>
                <a:spcPct val="100000"/>
              </a:lnSpc>
              <a:buNone/>
              <a:defRPr b="0" lang="en-US" sz="1000" strike="noStrike" u="none">
                <a:solidFill>
                  <a:srgbClr val="5b6770"/>
                </a:solidFill>
                <a:effectLst/>
                <a:uFillTx/>
                <a:latin typeface="Calibri"/>
              </a:defRPr>
            </a:lvl1pPr>
          </a:lstStyle>
          <a:p>
            <a:pPr indent="0" defTabSz="914400">
              <a:lnSpc>
                <a:spcPct val="100000"/>
              </a:lnSpc>
              <a:buNone/>
            </a:pPr>
            <a:fld id="{9DB717F2-9058-429D-AD2C-B55A3160098D}" type="slidenum">
              <a:rPr b="0" lang="en-US" sz="1000" strike="noStrike" u="none">
                <a:solidFill>
                  <a:srgbClr val="5b6770"/>
                </a:solidFill>
                <a:effectLst/>
                <a:uFillTx/>
                <a:latin typeface="Calibri"/>
              </a:rPr>
              <a:t>4</a:t>
            </a:fld>
            <a:endParaRPr b="0" lang="en-US" sz="1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548640" y="320040"/>
            <a:ext cx="11063880" cy="868320"/>
          </a:xfrm>
          <a:prstGeom prst="rect">
            <a:avLst/>
          </a:prstGeom>
          <a:noFill/>
          <a:ln w="0">
            <a:noFill/>
          </a:ln>
        </p:spPr>
        <p:txBody>
          <a:bodyPr lIns="0" rIns="0" tIns="0" bIns="0" anchor="ctr">
            <a:noAutofit/>
          </a:bodyPr>
          <a:p>
            <a:pPr indent="0" defTabSz="914400">
              <a:lnSpc>
                <a:spcPct val="100000"/>
              </a:lnSpc>
              <a:buNone/>
              <a:tabLst>
                <a:tab algn="l" pos="0"/>
              </a:tabLst>
            </a:pPr>
            <a:r>
              <a:rPr b="1" lang="en-US" sz="3400" strike="noStrike" u="none">
                <a:solidFill>
                  <a:srgbClr val="134e4a"/>
                </a:solidFill>
                <a:effectLst/>
                <a:uFillTx/>
                <a:latin typeface="Cambria"/>
              </a:rPr>
              <a:t>Margins are thin in Central and in Furniture</a:t>
            </a:r>
            <a:endParaRPr b="0" lang="en-US" sz="3400" strike="noStrike" u="none">
              <a:solidFill>
                <a:schemeClr val="dk1"/>
              </a:solidFill>
              <a:effectLst/>
              <a:uFillTx/>
              <a:latin typeface="Calibri"/>
            </a:endParaRPr>
          </a:p>
        </p:txBody>
      </p:sp>
      <p:graphicFrame>
        <p:nvGraphicFramePr>
          <p:cNvPr id="71" name="Region margin chart"/>
          <p:cNvGraphicFramePr/>
          <p:nvPr/>
        </p:nvGraphicFramePr>
        <p:xfrm>
          <a:off x="548640" y="1371600"/>
          <a:ext cx="5394600" cy="393156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72" name="Category chart"/>
          <p:cNvGraphicFramePr/>
          <p:nvPr/>
        </p:nvGraphicFramePr>
        <p:xfrm>
          <a:off x="6217920" y="1371600"/>
          <a:ext cx="5394600" cy="3931560"/>
        </p:xfrm>
        <a:graphic>
          <a:graphicData uri="http://schemas.openxmlformats.org/drawingml/2006/chart">
            <c:chart xmlns:c="http://schemas.openxmlformats.org/drawingml/2006/chart" xmlns:r="http://schemas.openxmlformats.org/officeDocument/2006/relationships" r:id="rId2"/>
          </a:graphicData>
        </a:graphic>
      </p:graphicFrame>
      <p:sp>
        <p:nvSpPr>
          <p:cNvPr id="73" name="Region caption"/>
          <p:cNvSpPr/>
          <p:nvPr/>
        </p:nvSpPr>
        <p:spPr>
          <a:xfrm>
            <a:off x="548640" y="5486400"/>
            <a:ext cx="539460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rgbClr val="000000"/>
                </a:solidFill>
                <a:effectLst/>
                <a:uFillTx/>
                <a:latin typeface="Calibri"/>
              </a:rPr>
              <a:t>West earns the best margin (14.9%). Central earns only 7.9%, although it out-sells the South.</a:t>
            </a:r>
            <a:endParaRPr b="0" lang="en-US" sz="1400" strike="noStrike" u="none">
              <a:solidFill>
                <a:srgbClr val="000000"/>
              </a:solidFill>
              <a:effectLst/>
              <a:uFillTx/>
              <a:latin typeface="Arial"/>
            </a:endParaRPr>
          </a:p>
        </p:txBody>
      </p:sp>
      <p:sp>
        <p:nvSpPr>
          <p:cNvPr id="74" name="Category caption"/>
          <p:cNvSpPr/>
          <p:nvPr/>
        </p:nvSpPr>
        <p:spPr>
          <a:xfrm>
            <a:off x="6217920" y="5486400"/>
            <a:ext cx="539460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rgbClr val="000000"/>
                </a:solidFill>
                <a:effectLst/>
                <a:uFillTx/>
                <a:latin typeface="Calibri"/>
              </a:rPr>
              <a:t>Furniture brings 32% of sales but only 6% of profit, a 2.5% margin.</a:t>
            </a:r>
            <a:endParaRPr b="0" lang="en-US" sz="1400" strike="noStrike" u="none">
              <a:solidFill>
                <a:srgbClr val="000000"/>
              </a:solidFill>
              <a:effectLst/>
              <a:uFillTx/>
              <a:latin typeface="Arial"/>
            </a:endParaRPr>
          </a:p>
        </p:txBody>
      </p:sp>
      <p:sp>
        <p:nvSpPr>
          <p:cNvPr id="75" name="PlaceHolder 2"/>
          <p:cNvSpPr>
            <a:spLocks noGrp="1"/>
          </p:cNvSpPr>
          <p:nvPr>
            <p:ph type="sldNum" idx="8"/>
          </p:nvPr>
        </p:nvSpPr>
        <p:spPr>
          <a:xfrm>
            <a:off x="11155680" y="6400800"/>
            <a:ext cx="548280" cy="273960"/>
          </a:xfrm>
          <a:prstGeom prst="rect">
            <a:avLst/>
          </a:prstGeom>
          <a:noFill/>
          <a:ln w="0">
            <a:noFill/>
          </a:ln>
        </p:spPr>
        <p:txBody>
          <a:bodyPr lIns="90000" rIns="90000" tIns="45000" bIns="45000" anchor="t">
            <a:noAutofit/>
          </a:bodyPr>
          <a:lstStyle>
            <a:lvl1pPr indent="0" defTabSz="914400">
              <a:lnSpc>
                <a:spcPct val="100000"/>
              </a:lnSpc>
              <a:buNone/>
              <a:defRPr b="0" lang="en-US" sz="1000" strike="noStrike" u="none">
                <a:solidFill>
                  <a:srgbClr val="5b6770"/>
                </a:solidFill>
                <a:effectLst/>
                <a:uFillTx/>
                <a:latin typeface="Calibri"/>
              </a:defRPr>
            </a:lvl1pPr>
          </a:lstStyle>
          <a:p>
            <a:pPr indent="0" defTabSz="914400">
              <a:lnSpc>
                <a:spcPct val="100000"/>
              </a:lnSpc>
              <a:buNone/>
            </a:pPr>
            <a:fld id="{A589DE2D-7FAA-4218-91E3-64E8D31A2C08}" type="slidenum">
              <a:rPr b="0" lang="en-US" sz="1000" strike="noStrike" u="none">
                <a:solidFill>
                  <a:srgbClr val="5b6770"/>
                </a:solidFill>
                <a:effectLst/>
                <a:uFillTx/>
                <a:latin typeface="Calibri"/>
              </a:rPr>
              <a:t>4</a:t>
            </a:fld>
            <a:endParaRPr b="0" lang="en-US" sz="1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548640" y="320040"/>
            <a:ext cx="11063880" cy="868320"/>
          </a:xfrm>
          <a:prstGeom prst="rect">
            <a:avLst/>
          </a:prstGeom>
          <a:noFill/>
          <a:ln w="0">
            <a:noFill/>
          </a:ln>
        </p:spPr>
        <p:txBody>
          <a:bodyPr lIns="0" rIns="0" tIns="0" bIns="0" anchor="ctr">
            <a:noAutofit/>
          </a:bodyPr>
          <a:p>
            <a:pPr indent="0" defTabSz="914400">
              <a:lnSpc>
                <a:spcPct val="100000"/>
              </a:lnSpc>
              <a:buNone/>
              <a:tabLst>
                <a:tab algn="l" pos="0"/>
              </a:tabLst>
            </a:pPr>
            <a:r>
              <a:rPr b="1" lang="en-US" sz="3400" strike="noStrike" u="none">
                <a:solidFill>
                  <a:srgbClr val="134e4a"/>
                </a:solidFill>
                <a:effectLst/>
                <a:uFillTx/>
                <a:latin typeface="Cambria"/>
              </a:rPr>
              <a:t>Discounts above 20% lose money</a:t>
            </a:r>
            <a:endParaRPr b="0" lang="en-US" sz="3400" strike="noStrike" u="none">
              <a:solidFill>
                <a:schemeClr val="dk1"/>
              </a:solidFill>
              <a:effectLst/>
              <a:uFillTx/>
              <a:latin typeface="Calibri"/>
            </a:endParaRPr>
          </a:p>
        </p:txBody>
      </p:sp>
      <p:graphicFrame>
        <p:nvGraphicFramePr>
          <p:cNvPr id="77" name="Discount margin chart"/>
          <p:cNvGraphicFramePr/>
          <p:nvPr/>
        </p:nvGraphicFramePr>
        <p:xfrm>
          <a:off x="548640" y="1371600"/>
          <a:ext cx="7314840" cy="4754520"/>
        </p:xfrm>
        <a:graphic>
          <a:graphicData uri="http://schemas.openxmlformats.org/drawingml/2006/chart">
            <c:chart xmlns:c="http://schemas.openxmlformats.org/drawingml/2006/chart" xmlns:r="http://schemas.openxmlformats.org/officeDocument/2006/relationships" r:id="rId1"/>
          </a:graphicData>
        </a:graphic>
      </p:graphicFrame>
      <p:sp>
        <p:nvSpPr>
          <p:cNvPr id="78" name="Stat loss card"/>
          <p:cNvSpPr/>
          <p:nvPr/>
        </p:nvSpPr>
        <p:spPr>
          <a:xfrm>
            <a:off x="8138160" y="1371600"/>
            <a:ext cx="3474360" cy="1371240"/>
          </a:xfrm>
          <a:prstGeom prst="roundRect">
            <a:avLst>
              <a:gd name="adj" fmla="val 8000"/>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9" name="Stat loss value"/>
          <p:cNvSpPr/>
          <p:nvPr/>
        </p:nvSpPr>
        <p:spPr>
          <a:xfrm>
            <a:off x="8321040" y="1508760"/>
            <a:ext cx="31086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2"/>
                </a:solidFill>
                <a:effectLst/>
                <a:uFillTx/>
                <a:latin typeface="Cambria"/>
                <a:ea typeface="Cambria"/>
              </a:rPr>
              <a:t>-$135K</a:t>
            </a:r>
            <a:endParaRPr b="0" lang="en-US" sz="3600" strike="noStrike" u="none">
              <a:solidFill>
                <a:srgbClr val="000000"/>
              </a:solidFill>
              <a:effectLst/>
              <a:uFillTx/>
              <a:latin typeface="Arial"/>
            </a:endParaRPr>
          </a:p>
        </p:txBody>
      </p:sp>
      <p:sp>
        <p:nvSpPr>
          <p:cNvPr id="80" name="Stat loss label"/>
          <p:cNvSpPr/>
          <p:nvPr/>
        </p:nvSpPr>
        <p:spPr>
          <a:xfrm>
            <a:off x="8321040" y="2167200"/>
            <a:ext cx="3108600" cy="493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lost on 1,392 lines discounted above 20%</a:t>
            </a:r>
            <a:endParaRPr b="0" lang="en-US" sz="1400" strike="noStrike" u="none">
              <a:solidFill>
                <a:srgbClr val="000000"/>
              </a:solidFill>
              <a:effectLst/>
              <a:uFillTx/>
              <a:latin typeface="Arial"/>
            </a:endParaRPr>
          </a:p>
        </p:txBody>
      </p:sp>
      <p:sp>
        <p:nvSpPr>
          <p:cNvPr id="81" name="Stat share card"/>
          <p:cNvSpPr/>
          <p:nvPr/>
        </p:nvSpPr>
        <p:spPr>
          <a:xfrm>
            <a:off x="8138160" y="2926080"/>
            <a:ext cx="3474360" cy="1371240"/>
          </a:xfrm>
          <a:prstGeom prst="roundRect">
            <a:avLst>
              <a:gd name="adj" fmla="val 8000"/>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 name="Stat share value"/>
          <p:cNvSpPr/>
          <p:nvPr/>
        </p:nvSpPr>
        <p:spPr>
          <a:xfrm>
            <a:off x="8321040" y="3063240"/>
            <a:ext cx="31086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2"/>
                </a:solidFill>
                <a:effectLst/>
                <a:uFillTx/>
                <a:latin typeface="Cambria"/>
                <a:ea typeface="Cambria"/>
              </a:rPr>
              <a:t>47%</a:t>
            </a:r>
            <a:endParaRPr b="0" lang="en-US" sz="3600" strike="noStrike" u="none">
              <a:solidFill>
                <a:srgbClr val="000000"/>
              </a:solidFill>
              <a:effectLst/>
              <a:uFillTx/>
              <a:latin typeface="Arial"/>
            </a:endParaRPr>
          </a:p>
        </p:txBody>
      </p:sp>
      <p:sp>
        <p:nvSpPr>
          <p:cNvPr id="83" name="Stat share label"/>
          <p:cNvSpPr/>
          <p:nvPr/>
        </p:nvSpPr>
        <p:spPr>
          <a:xfrm>
            <a:off x="8321040" y="3721680"/>
            <a:ext cx="3108600" cy="493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of the business's total profit</a:t>
            </a:r>
            <a:endParaRPr b="0" lang="en-US" sz="1400" strike="noStrike" u="none">
              <a:solidFill>
                <a:srgbClr val="000000"/>
              </a:solidFill>
              <a:effectLst/>
              <a:uFillTx/>
              <a:latin typeface="Arial"/>
            </a:endParaRPr>
          </a:p>
        </p:txBody>
      </p:sp>
      <p:sp>
        <p:nvSpPr>
          <p:cNvPr id="84" name="Discount note"/>
          <p:cNvSpPr/>
          <p:nvPr/>
        </p:nvSpPr>
        <p:spPr>
          <a:xfrm>
            <a:off x="8138160" y="4526280"/>
            <a:ext cx="3474360" cy="1554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rgbClr val="000000"/>
                </a:solidFill>
                <a:effectLst/>
                <a:uFillTx/>
                <a:latin typeface="Calibri"/>
              </a:rPr>
              <a:t>Units per order line stay at 3.7 to 4.0 at every discount level, so deeper discounts do not make orders bigger.</a:t>
            </a:r>
            <a:endParaRPr b="0" lang="en-US" sz="1400" strike="noStrike" u="none">
              <a:solidFill>
                <a:srgbClr val="000000"/>
              </a:solidFill>
              <a:effectLst/>
              <a:uFillTx/>
              <a:latin typeface="Arial"/>
            </a:endParaRPr>
          </a:p>
        </p:txBody>
      </p:sp>
      <p:sp>
        <p:nvSpPr>
          <p:cNvPr id="85" name="PlaceHolder 2"/>
          <p:cNvSpPr>
            <a:spLocks noGrp="1"/>
          </p:cNvSpPr>
          <p:nvPr>
            <p:ph type="sldNum" idx="9"/>
          </p:nvPr>
        </p:nvSpPr>
        <p:spPr>
          <a:xfrm>
            <a:off x="11155680" y="6400800"/>
            <a:ext cx="548280" cy="273960"/>
          </a:xfrm>
          <a:prstGeom prst="rect">
            <a:avLst/>
          </a:prstGeom>
          <a:noFill/>
          <a:ln w="0">
            <a:noFill/>
          </a:ln>
        </p:spPr>
        <p:txBody>
          <a:bodyPr lIns="90000" rIns="90000" tIns="45000" bIns="45000" anchor="t">
            <a:noAutofit/>
          </a:bodyPr>
          <a:lstStyle>
            <a:lvl1pPr indent="0" defTabSz="914400">
              <a:lnSpc>
                <a:spcPct val="100000"/>
              </a:lnSpc>
              <a:buNone/>
              <a:defRPr b="0" lang="en-US" sz="1000" strike="noStrike" u="none">
                <a:solidFill>
                  <a:srgbClr val="5b6770"/>
                </a:solidFill>
                <a:effectLst/>
                <a:uFillTx/>
                <a:latin typeface="Calibri"/>
              </a:defRPr>
            </a:lvl1pPr>
          </a:lstStyle>
          <a:p>
            <a:pPr indent="0" defTabSz="914400">
              <a:lnSpc>
                <a:spcPct val="100000"/>
              </a:lnSpc>
              <a:buNone/>
            </a:pPr>
            <a:fld id="{BAC45992-B55B-4C4E-A827-C69E1C04A65C}" type="slidenum">
              <a:rPr b="0" lang="en-US" sz="1000" strike="noStrike" u="none">
                <a:solidFill>
                  <a:srgbClr val="5b6770"/>
                </a:solidFill>
                <a:effectLst/>
                <a:uFillTx/>
                <a:latin typeface="Calibri"/>
              </a:rPr>
              <a:t>6</a:t>
            </a:fld>
            <a:endParaRPr b="0" lang="en-US" sz="1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548640" y="320040"/>
            <a:ext cx="11063880" cy="868320"/>
          </a:xfrm>
          <a:prstGeom prst="rect">
            <a:avLst/>
          </a:prstGeom>
          <a:noFill/>
          <a:ln w="0">
            <a:noFill/>
          </a:ln>
        </p:spPr>
        <p:txBody>
          <a:bodyPr lIns="0" rIns="0" tIns="0" bIns="0" anchor="ctr">
            <a:noAutofit/>
          </a:bodyPr>
          <a:p>
            <a:pPr indent="0" defTabSz="914400">
              <a:lnSpc>
                <a:spcPct val="100000"/>
              </a:lnSpc>
              <a:buNone/>
              <a:tabLst>
                <a:tab algn="l" pos="0"/>
              </a:tabLst>
            </a:pPr>
            <a:r>
              <a:rPr b="1" lang="en-US" sz="3400" strike="noStrike" u="none">
                <a:solidFill>
                  <a:srgbClr val="134e4a"/>
                </a:solidFill>
                <a:effectLst/>
                <a:uFillTx/>
                <a:latin typeface="Cambria"/>
              </a:rPr>
              <a:t>Some of our biggest sellers lose money</a:t>
            </a:r>
            <a:endParaRPr b="0" lang="en-US" sz="3400" strike="noStrike" u="none">
              <a:solidFill>
                <a:schemeClr val="dk1"/>
              </a:solidFill>
              <a:effectLst/>
              <a:uFillTx/>
              <a:latin typeface="Calibri"/>
            </a:endParaRPr>
          </a:p>
        </p:txBody>
      </p:sp>
      <p:graphicFrame>
        <p:nvGraphicFramePr>
          <p:cNvPr id="87" name="Product group chart"/>
          <p:cNvGraphicFramePr/>
          <p:nvPr/>
        </p:nvGraphicFramePr>
        <p:xfrm>
          <a:off x="548640" y="1371600"/>
          <a:ext cx="7314840" cy="4754520"/>
        </p:xfrm>
        <a:graphic>
          <a:graphicData uri="http://schemas.openxmlformats.org/drawingml/2006/chart">
            <c:chart xmlns:c="http://schemas.openxmlformats.org/drawingml/2006/chart" xmlns:r="http://schemas.openxmlformats.org/officeDocument/2006/relationships" r:id="rId1"/>
          </a:graphicData>
        </a:graphic>
      </p:graphicFrame>
      <p:sp>
        <p:nvSpPr>
          <p:cNvPr id="88" name="Stat products card"/>
          <p:cNvSpPr/>
          <p:nvPr/>
        </p:nvSpPr>
        <p:spPr>
          <a:xfrm>
            <a:off x="8138160" y="1371600"/>
            <a:ext cx="3474360" cy="1371240"/>
          </a:xfrm>
          <a:prstGeom prst="roundRect">
            <a:avLst>
              <a:gd name="adj" fmla="val 8000"/>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9" name="Stat products value"/>
          <p:cNvSpPr/>
          <p:nvPr/>
        </p:nvSpPr>
        <p:spPr>
          <a:xfrm>
            <a:off x="8321040" y="1508760"/>
            <a:ext cx="31086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252</a:t>
            </a:r>
            <a:endParaRPr b="0" lang="en-US" sz="3600" strike="noStrike" u="none">
              <a:solidFill>
                <a:srgbClr val="000000"/>
              </a:solidFill>
              <a:effectLst/>
              <a:uFillTx/>
              <a:latin typeface="Arial"/>
            </a:endParaRPr>
          </a:p>
        </p:txBody>
      </p:sp>
      <p:sp>
        <p:nvSpPr>
          <p:cNvPr id="90" name="Stat products label"/>
          <p:cNvSpPr/>
          <p:nvPr/>
        </p:nvSpPr>
        <p:spPr>
          <a:xfrm>
            <a:off x="8321040" y="2167200"/>
            <a:ext cx="3108600" cy="493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products sell above the median but earn below the median profit</a:t>
            </a:r>
            <a:endParaRPr b="0" lang="en-US" sz="1400" strike="noStrike" u="none">
              <a:solidFill>
                <a:srgbClr val="000000"/>
              </a:solidFill>
              <a:effectLst/>
              <a:uFillTx/>
              <a:latin typeface="Arial"/>
            </a:endParaRPr>
          </a:p>
        </p:txBody>
      </p:sp>
      <p:sp>
        <p:nvSpPr>
          <p:cNvPr id="91" name="Stat product loss card"/>
          <p:cNvSpPr/>
          <p:nvPr/>
        </p:nvSpPr>
        <p:spPr>
          <a:xfrm>
            <a:off x="8138160" y="2926080"/>
            <a:ext cx="3474360" cy="1371240"/>
          </a:xfrm>
          <a:prstGeom prst="roundRect">
            <a:avLst>
              <a:gd name="adj" fmla="val 8000"/>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2" name="Stat product loss value"/>
          <p:cNvSpPr/>
          <p:nvPr/>
        </p:nvSpPr>
        <p:spPr>
          <a:xfrm>
            <a:off x="8321040" y="3063240"/>
            <a:ext cx="31086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2"/>
                </a:solidFill>
                <a:effectLst/>
                <a:uFillTx/>
                <a:latin typeface="Cambria"/>
                <a:ea typeface="Cambria"/>
              </a:rPr>
              <a:t>-$72.6K</a:t>
            </a:r>
            <a:endParaRPr b="0" lang="en-US" sz="3600" strike="noStrike" u="none">
              <a:solidFill>
                <a:srgbClr val="000000"/>
              </a:solidFill>
              <a:effectLst/>
              <a:uFillTx/>
              <a:latin typeface="Arial"/>
            </a:endParaRPr>
          </a:p>
        </p:txBody>
      </p:sp>
      <p:sp>
        <p:nvSpPr>
          <p:cNvPr id="93" name="Stat product loss label"/>
          <p:cNvSpPr/>
          <p:nvPr/>
        </p:nvSpPr>
        <p:spPr>
          <a:xfrm>
            <a:off x="8321040" y="3721680"/>
            <a:ext cx="3108600" cy="493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their combined profit, on 26.7% of sales</a:t>
            </a:r>
            <a:endParaRPr b="0" lang="en-US" sz="1400" strike="noStrike" u="none">
              <a:solidFill>
                <a:srgbClr val="000000"/>
              </a:solidFill>
              <a:effectLst/>
              <a:uFillTx/>
              <a:latin typeface="Arial"/>
            </a:endParaRPr>
          </a:p>
        </p:txBody>
      </p:sp>
      <p:sp>
        <p:nvSpPr>
          <p:cNvPr id="94" name="Product examples"/>
          <p:cNvSpPr/>
          <p:nvPr/>
        </p:nvSpPr>
        <p:spPr>
          <a:xfrm>
            <a:off x="8138160" y="4526280"/>
            <a:ext cx="3474360" cy="1554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rgbClr val="000000"/>
                </a:solidFill>
                <a:effectLst/>
                <a:uFillTx/>
                <a:latin typeface="Calibri"/>
              </a:rPr>
              <a:t>Examples: Cubify CubeX 3D printers, Lexmark MX611dhe laser printer, conference tables.</a:t>
            </a:r>
            <a:endParaRPr b="0" lang="en-US" sz="1400" strike="noStrike" u="none">
              <a:solidFill>
                <a:srgbClr val="000000"/>
              </a:solidFill>
              <a:effectLst/>
              <a:uFillTx/>
              <a:latin typeface="Arial"/>
            </a:endParaRPr>
          </a:p>
        </p:txBody>
      </p:sp>
      <p:sp>
        <p:nvSpPr>
          <p:cNvPr id="95" name="PlaceHolder 2"/>
          <p:cNvSpPr>
            <a:spLocks noGrp="1"/>
          </p:cNvSpPr>
          <p:nvPr>
            <p:ph type="sldNum" idx="10"/>
          </p:nvPr>
        </p:nvSpPr>
        <p:spPr>
          <a:xfrm>
            <a:off x="11155680" y="6400800"/>
            <a:ext cx="548280" cy="273960"/>
          </a:xfrm>
          <a:prstGeom prst="rect">
            <a:avLst/>
          </a:prstGeom>
          <a:noFill/>
          <a:ln w="0">
            <a:noFill/>
          </a:ln>
        </p:spPr>
        <p:txBody>
          <a:bodyPr lIns="90000" rIns="90000" tIns="45000" bIns="45000" anchor="t">
            <a:noAutofit/>
          </a:bodyPr>
          <a:lstStyle>
            <a:lvl1pPr indent="0" defTabSz="914400">
              <a:lnSpc>
                <a:spcPct val="100000"/>
              </a:lnSpc>
              <a:buNone/>
              <a:defRPr b="0" lang="en-US" sz="1000" strike="noStrike" u="none">
                <a:solidFill>
                  <a:srgbClr val="5b6770"/>
                </a:solidFill>
                <a:effectLst/>
                <a:uFillTx/>
                <a:latin typeface="Calibri"/>
              </a:defRPr>
            </a:lvl1pPr>
          </a:lstStyle>
          <a:p>
            <a:pPr indent="0" defTabSz="914400">
              <a:lnSpc>
                <a:spcPct val="100000"/>
              </a:lnSpc>
              <a:buNone/>
            </a:pPr>
            <a:fld id="{1B0E3C21-217D-4E58-8531-25A021F7DB3A}" type="slidenum">
              <a:rPr b="0" lang="en-US" sz="1000" strike="noStrike" u="none">
                <a:solidFill>
                  <a:srgbClr val="5b6770"/>
                </a:solidFill>
                <a:effectLst/>
                <a:uFillTx/>
                <a:latin typeface="Calibri"/>
              </a:rPr>
              <a:t>7</a:t>
            </a:fld>
            <a:endParaRPr b="0" lang="en-US" sz="1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548640" y="320040"/>
            <a:ext cx="11063880" cy="868320"/>
          </a:xfrm>
          <a:prstGeom prst="rect">
            <a:avLst/>
          </a:prstGeom>
          <a:noFill/>
          <a:ln w="0">
            <a:noFill/>
          </a:ln>
        </p:spPr>
        <p:txBody>
          <a:bodyPr lIns="0" rIns="0" tIns="0" bIns="0" anchor="ctr">
            <a:noAutofit/>
          </a:bodyPr>
          <a:p>
            <a:pPr indent="0" defTabSz="914400">
              <a:lnSpc>
                <a:spcPct val="100000"/>
              </a:lnSpc>
              <a:buNone/>
              <a:tabLst>
                <a:tab algn="l" pos="0"/>
              </a:tabLst>
            </a:pPr>
            <a:r>
              <a:rPr b="1" lang="en-US" sz="3400" strike="noStrike" u="none">
                <a:solidFill>
                  <a:srgbClr val="134e4a"/>
                </a:solidFill>
                <a:effectLst/>
                <a:uFillTx/>
                <a:latin typeface="Cambria"/>
              </a:rPr>
              <a:t>A small group of customers earns most profit</a:t>
            </a:r>
            <a:endParaRPr b="0" lang="en-US" sz="3400" strike="noStrike" u="none">
              <a:solidFill>
                <a:schemeClr val="dk1"/>
              </a:solidFill>
              <a:effectLst/>
              <a:uFillTx/>
              <a:latin typeface="Calibri"/>
            </a:endParaRPr>
          </a:p>
        </p:txBody>
      </p:sp>
      <p:graphicFrame>
        <p:nvGraphicFramePr>
          <p:cNvPr id="97" name="Segment chart"/>
          <p:cNvGraphicFramePr/>
          <p:nvPr/>
        </p:nvGraphicFramePr>
        <p:xfrm>
          <a:off x="548640" y="1371600"/>
          <a:ext cx="7314840" cy="4754520"/>
        </p:xfrm>
        <a:graphic>
          <a:graphicData uri="http://schemas.openxmlformats.org/drawingml/2006/chart">
            <c:chart xmlns:c="http://schemas.openxmlformats.org/drawingml/2006/chart" xmlns:r="http://schemas.openxmlformats.org/officeDocument/2006/relationships" r:id="rId1"/>
          </a:graphicData>
        </a:graphic>
      </p:graphicFrame>
      <p:sp>
        <p:nvSpPr>
          <p:cNvPr id="98" name="Stat high value card"/>
          <p:cNvSpPr/>
          <p:nvPr/>
        </p:nvSpPr>
        <p:spPr>
          <a:xfrm>
            <a:off x="8138160" y="1371600"/>
            <a:ext cx="3474360" cy="1371240"/>
          </a:xfrm>
          <a:prstGeom prst="roundRect">
            <a:avLst>
              <a:gd name="adj" fmla="val 8000"/>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9" name="Stat high value value"/>
          <p:cNvSpPr/>
          <p:nvPr/>
        </p:nvSpPr>
        <p:spPr>
          <a:xfrm>
            <a:off x="8321040" y="1508760"/>
            <a:ext cx="31086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78%</a:t>
            </a:r>
            <a:endParaRPr b="0" lang="en-US" sz="3600" strike="noStrike" u="none">
              <a:solidFill>
                <a:srgbClr val="000000"/>
              </a:solidFill>
              <a:effectLst/>
              <a:uFillTx/>
              <a:latin typeface="Arial"/>
            </a:endParaRPr>
          </a:p>
        </p:txBody>
      </p:sp>
      <p:sp>
        <p:nvSpPr>
          <p:cNvPr id="100" name="Stat high value label"/>
          <p:cNvSpPr/>
          <p:nvPr/>
        </p:nvSpPr>
        <p:spPr>
          <a:xfrm>
            <a:off x="8321040" y="2167200"/>
            <a:ext cx="3108600" cy="493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of profit comes from the 22% of customers who are High-Value</a:t>
            </a:r>
            <a:endParaRPr b="0" lang="en-US" sz="1400" strike="noStrike" u="none">
              <a:solidFill>
                <a:srgbClr val="000000"/>
              </a:solidFill>
              <a:effectLst/>
              <a:uFillTx/>
              <a:latin typeface="Arial"/>
            </a:endParaRPr>
          </a:p>
        </p:txBody>
      </p:sp>
      <p:sp>
        <p:nvSpPr>
          <p:cNvPr id="101" name="Stat loss customers card"/>
          <p:cNvSpPr/>
          <p:nvPr/>
        </p:nvSpPr>
        <p:spPr>
          <a:xfrm>
            <a:off x="8138160" y="2926080"/>
            <a:ext cx="3474360" cy="1371240"/>
          </a:xfrm>
          <a:prstGeom prst="roundRect">
            <a:avLst>
              <a:gd name="adj" fmla="val 8000"/>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2" name="Stat loss customers value"/>
          <p:cNvSpPr/>
          <p:nvPr/>
        </p:nvSpPr>
        <p:spPr>
          <a:xfrm>
            <a:off x="8321040" y="3063240"/>
            <a:ext cx="31086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2"/>
                </a:solidFill>
                <a:effectLst/>
                <a:uFillTx/>
                <a:latin typeface="Cambria"/>
                <a:ea typeface="Cambria"/>
              </a:rPr>
              <a:t>155</a:t>
            </a:r>
            <a:endParaRPr b="0" lang="en-US" sz="3600" strike="noStrike" u="none">
              <a:solidFill>
                <a:srgbClr val="000000"/>
              </a:solidFill>
              <a:effectLst/>
              <a:uFillTx/>
              <a:latin typeface="Arial"/>
            </a:endParaRPr>
          </a:p>
        </p:txBody>
      </p:sp>
      <p:sp>
        <p:nvSpPr>
          <p:cNvPr id="103" name="Stat loss customers label"/>
          <p:cNvSpPr/>
          <p:nvPr/>
        </p:nvSpPr>
        <p:spPr>
          <a:xfrm>
            <a:off x="8321040" y="3721680"/>
            <a:ext cx="3108600" cy="493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customers (19.5%) cost the business money overall</a:t>
            </a:r>
            <a:endParaRPr b="0" lang="en-US" sz="1400" strike="noStrike" u="none">
              <a:solidFill>
                <a:srgbClr val="000000"/>
              </a:solidFill>
              <a:effectLst/>
              <a:uFillTx/>
              <a:latin typeface="Arial"/>
            </a:endParaRPr>
          </a:p>
        </p:txBody>
      </p:sp>
      <p:sp>
        <p:nvSpPr>
          <p:cNvPr id="104" name="Segment rule"/>
          <p:cNvSpPr/>
          <p:nvPr/>
        </p:nvSpPr>
        <p:spPr>
          <a:xfrm>
            <a:off x="8138160" y="4526280"/>
            <a:ext cx="3474360" cy="1554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rgbClr val="000000"/>
                </a:solidFill>
                <a:effectLst/>
                <a:uFillTx/>
                <a:latin typeface="Calibri"/>
              </a:rPr>
              <a:t>High-Value: top 25% by sales with positive profit. Low-Value: bottom 25% by sales. Medium: the rest.</a:t>
            </a:r>
            <a:endParaRPr b="0" lang="en-US" sz="1400" strike="noStrike" u="none">
              <a:solidFill>
                <a:srgbClr val="000000"/>
              </a:solidFill>
              <a:effectLst/>
              <a:uFillTx/>
              <a:latin typeface="Arial"/>
            </a:endParaRPr>
          </a:p>
        </p:txBody>
      </p:sp>
      <p:sp>
        <p:nvSpPr>
          <p:cNvPr id="105" name="PlaceHolder 2"/>
          <p:cNvSpPr>
            <a:spLocks noGrp="1"/>
          </p:cNvSpPr>
          <p:nvPr>
            <p:ph type="sldNum" idx="11"/>
          </p:nvPr>
        </p:nvSpPr>
        <p:spPr>
          <a:xfrm>
            <a:off x="11155680" y="6400800"/>
            <a:ext cx="548280" cy="273960"/>
          </a:xfrm>
          <a:prstGeom prst="rect">
            <a:avLst/>
          </a:prstGeom>
          <a:noFill/>
          <a:ln w="0">
            <a:noFill/>
          </a:ln>
        </p:spPr>
        <p:txBody>
          <a:bodyPr lIns="90000" rIns="90000" tIns="45000" bIns="45000" anchor="t">
            <a:noAutofit/>
          </a:bodyPr>
          <a:lstStyle>
            <a:lvl1pPr indent="0" defTabSz="914400">
              <a:lnSpc>
                <a:spcPct val="100000"/>
              </a:lnSpc>
              <a:buNone/>
              <a:defRPr b="0" lang="en-US" sz="1000" strike="noStrike" u="none">
                <a:solidFill>
                  <a:srgbClr val="5b6770"/>
                </a:solidFill>
                <a:effectLst/>
                <a:uFillTx/>
                <a:latin typeface="Calibri"/>
              </a:defRPr>
            </a:lvl1pPr>
          </a:lstStyle>
          <a:p>
            <a:pPr indent="0" defTabSz="914400">
              <a:lnSpc>
                <a:spcPct val="100000"/>
              </a:lnSpc>
              <a:buNone/>
            </a:pPr>
            <a:fld id="{5B884E3E-FA64-4ECB-BC6B-8D6F57351BE8}" type="slidenum">
              <a:rPr b="0" lang="en-US" sz="1000" strike="noStrike" u="none">
                <a:solidFill>
                  <a:srgbClr val="5b6770"/>
                </a:solidFill>
                <a:effectLst/>
                <a:uFillTx/>
                <a:latin typeface="Calibri"/>
              </a:rPr>
              <a:t>8</a:t>
            </a:fld>
            <a:endParaRPr b="0" lang="en-US" sz="1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548640" y="320040"/>
            <a:ext cx="11063880" cy="868320"/>
          </a:xfrm>
          <a:prstGeom prst="rect">
            <a:avLst/>
          </a:prstGeom>
          <a:noFill/>
          <a:ln w="0">
            <a:noFill/>
          </a:ln>
        </p:spPr>
        <p:txBody>
          <a:bodyPr lIns="0" rIns="0" tIns="0" bIns="0" anchor="ctr">
            <a:noAutofit/>
          </a:bodyPr>
          <a:p>
            <a:pPr indent="0" defTabSz="914400">
              <a:lnSpc>
                <a:spcPct val="100000"/>
              </a:lnSpc>
              <a:buNone/>
              <a:tabLst>
                <a:tab algn="l" pos="0"/>
              </a:tabLst>
            </a:pPr>
            <a:r>
              <a:rPr b="1" lang="en-US" sz="3400" strike="noStrike" u="none">
                <a:solidFill>
                  <a:srgbClr val="134e4a"/>
                </a:solidFill>
                <a:effectLst/>
                <a:uFillTx/>
                <a:latin typeface="Cambria"/>
              </a:rPr>
              <a:t>Loyal customers, but very few new ones</a:t>
            </a:r>
            <a:endParaRPr b="0" lang="en-US" sz="3400" strike="noStrike" u="none">
              <a:solidFill>
                <a:schemeClr val="dk1"/>
              </a:solidFill>
              <a:effectLst/>
              <a:uFillTx/>
              <a:latin typeface="Calibri"/>
            </a:endParaRPr>
          </a:p>
        </p:txBody>
      </p:sp>
      <p:graphicFrame>
        <p:nvGraphicFramePr>
          <p:cNvPr id="107" name="New customers chart"/>
          <p:cNvGraphicFramePr/>
          <p:nvPr/>
        </p:nvGraphicFramePr>
        <p:xfrm>
          <a:off x="548640" y="1371600"/>
          <a:ext cx="7314840" cy="4754520"/>
        </p:xfrm>
        <a:graphic>
          <a:graphicData uri="http://schemas.openxmlformats.org/drawingml/2006/chart">
            <c:chart xmlns:c="http://schemas.openxmlformats.org/drawingml/2006/chart" xmlns:r="http://schemas.openxmlformats.org/officeDocument/2006/relationships" r:id="rId1"/>
          </a:graphicData>
        </a:graphic>
      </p:graphicFrame>
      <p:sp>
        <p:nvSpPr>
          <p:cNvPr id="108" name="Stat acquisition card"/>
          <p:cNvSpPr/>
          <p:nvPr/>
        </p:nvSpPr>
        <p:spPr>
          <a:xfrm>
            <a:off x="8138160" y="1371600"/>
            <a:ext cx="3474360" cy="1371240"/>
          </a:xfrm>
          <a:prstGeom prst="roundRect">
            <a:avLst>
              <a:gd name="adj" fmla="val 8000"/>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9" name="Stat acquisition value"/>
          <p:cNvSpPr/>
          <p:nvPr/>
        </p:nvSpPr>
        <p:spPr>
          <a:xfrm>
            <a:off x="8321040" y="1508760"/>
            <a:ext cx="31086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2"/>
                </a:solidFill>
                <a:effectLst/>
                <a:uFillTx/>
                <a:latin typeface="Cambria"/>
                <a:ea typeface="Cambria"/>
              </a:rPr>
              <a:t>595 to 11</a:t>
            </a:r>
            <a:endParaRPr b="0" lang="en-US" sz="3600" strike="noStrike" u="none">
              <a:solidFill>
                <a:srgbClr val="000000"/>
              </a:solidFill>
              <a:effectLst/>
              <a:uFillTx/>
              <a:latin typeface="Arial"/>
            </a:endParaRPr>
          </a:p>
        </p:txBody>
      </p:sp>
      <p:sp>
        <p:nvSpPr>
          <p:cNvPr id="110" name="Stat acquisition label"/>
          <p:cNvSpPr/>
          <p:nvPr/>
        </p:nvSpPr>
        <p:spPr>
          <a:xfrm>
            <a:off x="8321040" y="2167200"/>
            <a:ext cx="3108600" cy="493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new customers a year, 2014 to 2017</a:t>
            </a:r>
            <a:endParaRPr b="0" lang="en-US" sz="1400" strike="noStrike" u="none">
              <a:solidFill>
                <a:srgbClr val="000000"/>
              </a:solidFill>
              <a:effectLst/>
              <a:uFillTx/>
              <a:latin typeface="Arial"/>
            </a:endParaRPr>
          </a:p>
        </p:txBody>
      </p:sp>
      <p:sp>
        <p:nvSpPr>
          <p:cNvPr id="111" name="Stat returning card"/>
          <p:cNvSpPr/>
          <p:nvPr/>
        </p:nvSpPr>
        <p:spPr>
          <a:xfrm>
            <a:off x="8138160" y="2926080"/>
            <a:ext cx="3474360" cy="1371240"/>
          </a:xfrm>
          <a:prstGeom prst="roundRect">
            <a:avLst>
              <a:gd name="adj" fmla="val 8000"/>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2" name="Stat returning value"/>
          <p:cNvSpPr/>
          <p:nvPr/>
        </p:nvSpPr>
        <p:spPr>
          <a:xfrm>
            <a:off x="8321040" y="3063240"/>
            <a:ext cx="31086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99%</a:t>
            </a:r>
            <a:endParaRPr b="0" lang="en-US" sz="3600" strike="noStrike" u="none">
              <a:solidFill>
                <a:srgbClr val="000000"/>
              </a:solidFill>
              <a:effectLst/>
              <a:uFillTx/>
              <a:latin typeface="Arial"/>
            </a:endParaRPr>
          </a:p>
        </p:txBody>
      </p:sp>
      <p:sp>
        <p:nvSpPr>
          <p:cNvPr id="113" name="Stat returning label"/>
          <p:cNvSpPr/>
          <p:nvPr/>
        </p:nvSpPr>
        <p:spPr>
          <a:xfrm>
            <a:off x="8321040" y="3721680"/>
            <a:ext cx="3108600" cy="493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of 2017 sales came from returning customers</a:t>
            </a:r>
            <a:endParaRPr b="0" lang="en-US" sz="1400" strike="noStrike" u="none">
              <a:solidFill>
                <a:srgbClr val="000000"/>
              </a:solidFill>
              <a:effectLst/>
              <a:uFillTx/>
              <a:latin typeface="Arial"/>
            </a:endParaRPr>
          </a:p>
        </p:txBody>
      </p:sp>
      <p:sp>
        <p:nvSpPr>
          <p:cNvPr id="114" name="Stat loyalty card"/>
          <p:cNvSpPr/>
          <p:nvPr/>
        </p:nvSpPr>
        <p:spPr>
          <a:xfrm>
            <a:off x="8138160" y="4480560"/>
            <a:ext cx="3474360" cy="1599840"/>
          </a:xfrm>
          <a:prstGeom prst="roundRect">
            <a:avLst>
              <a:gd name="adj" fmla="val 6857"/>
            </a:avLst>
          </a:prstGeom>
          <a:solidFill>
            <a:schemeClr val="bg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5" name="Stat loyalty value"/>
          <p:cNvSpPr/>
          <p:nvPr/>
        </p:nvSpPr>
        <p:spPr>
          <a:xfrm>
            <a:off x="8321040" y="4617720"/>
            <a:ext cx="3108600" cy="79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600" strike="noStrike" u="none">
                <a:solidFill>
                  <a:schemeClr val="accent1"/>
                </a:solidFill>
                <a:effectLst/>
                <a:uFillTx/>
                <a:latin typeface="Cambria"/>
                <a:ea typeface="Cambria"/>
              </a:rPr>
              <a:t>73-87%</a:t>
            </a:r>
            <a:endParaRPr b="0" lang="en-US" sz="3600" strike="noStrike" u="none">
              <a:solidFill>
                <a:srgbClr val="000000"/>
              </a:solidFill>
              <a:effectLst/>
              <a:uFillTx/>
              <a:latin typeface="Arial"/>
            </a:endParaRPr>
          </a:p>
        </p:txBody>
      </p:sp>
      <p:sp>
        <p:nvSpPr>
          <p:cNvPr id="116" name="Stat loyalty label"/>
          <p:cNvSpPr/>
          <p:nvPr/>
        </p:nvSpPr>
        <p:spPr>
          <a:xfrm>
            <a:off x="8321040" y="5408640"/>
            <a:ext cx="3108600" cy="575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dk1"/>
                </a:solidFill>
                <a:effectLst/>
                <a:uFillTx/>
                <a:latin typeface="Calibri"/>
              </a:rPr>
              <a:t>of 2014 customers are active in each later year</a:t>
            </a:r>
            <a:endParaRPr b="0" lang="en-US" sz="1400" strike="noStrike" u="none">
              <a:solidFill>
                <a:srgbClr val="000000"/>
              </a:solidFill>
              <a:effectLst/>
              <a:uFillTx/>
              <a:latin typeface="Arial"/>
            </a:endParaRPr>
          </a:p>
        </p:txBody>
      </p:sp>
      <p:sp>
        <p:nvSpPr>
          <p:cNvPr id="117" name="PlaceHolder 2"/>
          <p:cNvSpPr>
            <a:spLocks noGrp="1"/>
          </p:cNvSpPr>
          <p:nvPr>
            <p:ph type="sldNum" idx="12"/>
          </p:nvPr>
        </p:nvSpPr>
        <p:spPr>
          <a:xfrm>
            <a:off x="11155680" y="6400800"/>
            <a:ext cx="548280" cy="273960"/>
          </a:xfrm>
          <a:prstGeom prst="rect">
            <a:avLst/>
          </a:prstGeom>
          <a:noFill/>
          <a:ln w="0">
            <a:noFill/>
          </a:ln>
        </p:spPr>
        <p:txBody>
          <a:bodyPr lIns="90000" rIns="90000" tIns="45000" bIns="45000" anchor="t">
            <a:noAutofit/>
          </a:bodyPr>
          <a:lstStyle>
            <a:lvl1pPr indent="0" defTabSz="914400">
              <a:lnSpc>
                <a:spcPct val="100000"/>
              </a:lnSpc>
              <a:buNone/>
              <a:defRPr b="0" lang="en-US" sz="1000" strike="noStrike" u="none">
                <a:solidFill>
                  <a:srgbClr val="5b6770"/>
                </a:solidFill>
                <a:effectLst/>
                <a:uFillTx/>
                <a:latin typeface="Calibri"/>
              </a:defRPr>
            </a:lvl1pPr>
          </a:lstStyle>
          <a:p>
            <a:pPr indent="0" defTabSz="914400">
              <a:lnSpc>
                <a:spcPct val="100000"/>
              </a:lnSpc>
              <a:buNone/>
            </a:pPr>
            <a:fld id="{A7AC3AFE-0EDB-4CB7-B92E-6A8B27393BD0}" type="slidenum">
              <a:rPr b="0" lang="en-US" sz="1000" strike="noStrike" u="none">
                <a:solidFill>
                  <a:srgbClr val="5b6770"/>
                </a:solidFill>
                <a:effectLst/>
                <a:uFillTx/>
                <a:latin typeface="Calibri"/>
              </a:rPr>
              <a:t>9</a:t>
            </a:fld>
            <a:endParaRPr b="0" lang="en-US" sz="1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548640" y="320040"/>
            <a:ext cx="11063880" cy="868320"/>
          </a:xfrm>
          <a:prstGeom prst="rect">
            <a:avLst/>
          </a:prstGeom>
          <a:noFill/>
          <a:ln w="0">
            <a:noFill/>
          </a:ln>
        </p:spPr>
        <p:txBody>
          <a:bodyPr lIns="0" rIns="0" tIns="0" bIns="0" anchor="ctr">
            <a:noAutofit/>
          </a:bodyPr>
          <a:p>
            <a:pPr indent="0" defTabSz="914400">
              <a:lnSpc>
                <a:spcPct val="100000"/>
              </a:lnSpc>
              <a:buNone/>
              <a:tabLst>
                <a:tab algn="l" pos="0"/>
              </a:tabLst>
            </a:pPr>
            <a:r>
              <a:rPr b="1" lang="en-US" sz="3400" strike="noStrike" u="none">
                <a:solidFill>
                  <a:srgbClr val="134e4a"/>
                </a:solidFill>
                <a:effectLst/>
                <a:uFillTx/>
                <a:latin typeface="Cambria"/>
              </a:rPr>
              <a:t>Five actions for management</a:t>
            </a:r>
            <a:endParaRPr b="0" lang="en-US" sz="3400" strike="noStrike" u="none">
              <a:solidFill>
                <a:schemeClr val="dk1"/>
              </a:solidFill>
              <a:effectLst/>
              <a:uFillTx/>
              <a:latin typeface="Calibri"/>
            </a:endParaRPr>
          </a:p>
        </p:txBody>
      </p:sp>
      <p:sp>
        <p:nvSpPr>
          <p:cNvPr id="119" name="Number 1"/>
          <p:cNvSpPr/>
          <p:nvPr/>
        </p:nvSpPr>
        <p:spPr>
          <a:xfrm>
            <a:off x="548640" y="1508760"/>
            <a:ext cx="594000" cy="594000"/>
          </a:xfrm>
          <a:prstGeom prst="ellipse">
            <a:avLst/>
          </a:prstGeom>
          <a:solidFill>
            <a:schemeClr val="accent1"/>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0" name="Number text 1"/>
          <p:cNvSpPr/>
          <p:nvPr/>
        </p:nvSpPr>
        <p:spPr>
          <a:xfrm>
            <a:off x="548640" y="1508760"/>
            <a:ext cx="594000" cy="594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trike="noStrike" u="none">
                <a:solidFill>
                  <a:schemeClr val="lt1"/>
                </a:solidFill>
                <a:effectLst/>
                <a:uFillTx/>
                <a:latin typeface="Calibri"/>
              </a:rPr>
              <a:t>1</a:t>
            </a:r>
            <a:endParaRPr b="0" lang="en-US" sz="2000" strike="noStrike" u="none">
              <a:solidFill>
                <a:srgbClr val="000000"/>
              </a:solidFill>
              <a:effectLst/>
              <a:uFillTx/>
              <a:latin typeface="Arial"/>
            </a:endParaRPr>
          </a:p>
        </p:txBody>
      </p:sp>
      <p:sp>
        <p:nvSpPr>
          <p:cNvPr id="121" name="Action 1"/>
          <p:cNvSpPr/>
          <p:nvPr/>
        </p:nvSpPr>
        <p:spPr>
          <a:xfrm>
            <a:off x="1371600" y="1417320"/>
            <a:ext cx="102409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chemeClr val="dk1"/>
                </a:solidFill>
                <a:effectLst/>
                <a:uFillTx/>
                <a:latin typeface="Calibri"/>
              </a:rPr>
              <a:t>Cap discounts at 20% and require approval above it</a:t>
            </a:r>
            <a:endParaRPr b="0" lang="en-US" sz="2000" strike="noStrike" u="none">
              <a:solidFill>
                <a:srgbClr val="000000"/>
              </a:solidFill>
              <a:effectLst/>
              <a:uFillTx/>
              <a:latin typeface="Arial"/>
            </a:endParaRPr>
          </a:p>
        </p:txBody>
      </p:sp>
      <p:sp>
        <p:nvSpPr>
          <p:cNvPr id="122" name="Action detail 1"/>
          <p:cNvSpPr/>
          <p:nvPr/>
        </p:nvSpPr>
        <p:spPr>
          <a:xfrm>
            <a:off x="1371600" y="1828800"/>
            <a:ext cx="1024092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accent5"/>
                </a:solidFill>
                <a:effectLst/>
                <a:uFillTx/>
                <a:latin typeface="Calibri"/>
              </a:rPr>
              <a:t>Targets the $135K lost on heavily discounted lines.</a:t>
            </a:r>
            <a:endParaRPr b="0" lang="en-US" sz="1400" strike="noStrike" u="none">
              <a:solidFill>
                <a:srgbClr val="000000"/>
              </a:solidFill>
              <a:effectLst/>
              <a:uFillTx/>
              <a:latin typeface="Arial"/>
            </a:endParaRPr>
          </a:p>
        </p:txBody>
      </p:sp>
      <p:sp>
        <p:nvSpPr>
          <p:cNvPr id="123" name="Number 2"/>
          <p:cNvSpPr/>
          <p:nvPr/>
        </p:nvSpPr>
        <p:spPr>
          <a:xfrm>
            <a:off x="548640" y="2496240"/>
            <a:ext cx="594000" cy="594000"/>
          </a:xfrm>
          <a:prstGeom prst="ellipse">
            <a:avLst/>
          </a:prstGeom>
          <a:solidFill>
            <a:schemeClr val="accent1"/>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4" name="Number text 2"/>
          <p:cNvSpPr/>
          <p:nvPr/>
        </p:nvSpPr>
        <p:spPr>
          <a:xfrm>
            <a:off x="548640" y="2496240"/>
            <a:ext cx="594000" cy="594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trike="noStrike" u="none">
                <a:solidFill>
                  <a:schemeClr val="lt1"/>
                </a:solidFill>
                <a:effectLst/>
                <a:uFillTx/>
                <a:latin typeface="Calibri"/>
              </a:rPr>
              <a:t>2</a:t>
            </a:r>
            <a:endParaRPr b="0" lang="en-US" sz="2000" strike="noStrike" u="none">
              <a:solidFill>
                <a:srgbClr val="000000"/>
              </a:solidFill>
              <a:effectLst/>
              <a:uFillTx/>
              <a:latin typeface="Arial"/>
            </a:endParaRPr>
          </a:p>
        </p:txBody>
      </p:sp>
      <p:sp>
        <p:nvSpPr>
          <p:cNvPr id="125" name="Action 2"/>
          <p:cNvSpPr/>
          <p:nvPr/>
        </p:nvSpPr>
        <p:spPr>
          <a:xfrm>
            <a:off x="1371600" y="2404800"/>
            <a:ext cx="102409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chemeClr val="dk1"/>
                </a:solidFill>
                <a:effectLst/>
                <a:uFillTx/>
                <a:latin typeface="Calibri"/>
              </a:rPr>
              <a:t>Review discounting in the Central region</a:t>
            </a:r>
            <a:endParaRPr b="0" lang="en-US" sz="2000" strike="noStrike" u="none">
              <a:solidFill>
                <a:srgbClr val="000000"/>
              </a:solidFill>
              <a:effectLst/>
              <a:uFillTx/>
              <a:latin typeface="Arial"/>
            </a:endParaRPr>
          </a:p>
        </p:txBody>
      </p:sp>
      <p:sp>
        <p:nvSpPr>
          <p:cNvPr id="126" name="Action detail 2"/>
          <p:cNvSpPr/>
          <p:nvPr/>
        </p:nvSpPr>
        <p:spPr>
          <a:xfrm>
            <a:off x="1371600" y="2816280"/>
            <a:ext cx="1024092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accent5"/>
                </a:solidFill>
                <a:effectLst/>
                <a:uFillTx/>
                <a:latin typeface="Calibri"/>
              </a:rPr>
              <a:t>Start with Binders, Tables and Machines, and products sold at 50% to 80% off.</a:t>
            </a:r>
            <a:endParaRPr b="0" lang="en-US" sz="1400" strike="noStrike" u="none">
              <a:solidFill>
                <a:srgbClr val="000000"/>
              </a:solidFill>
              <a:effectLst/>
              <a:uFillTx/>
              <a:latin typeface="Arial"/>
            </a:endParaRPr>
          </a:p>
        </p:txBody>
      </p:sp>
      <p:sp>
        <p:nvSpPr>
          <p:cNvPr id="127" name="Number 3"/>
          <p:cNvSpPr/>
          <p:nvPr/>
        </p:nvSpPr>
        <p:spPr>
          <a:xfrm>
            <a:off x="548640" y="3483720"/>
            <a:ext cx="594000" cy="594000"/>
          </a:xfrm>
          <a:prstGeom prst="ellipse">
            <a:avLst/>
          </a:prstGeom>
          <a:solidFill>
            <a:schemeClr val="accent1"/>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8" name="Number text 3"/>
          <p:cNvSpPr/>
          <p:nvPr/>
        </p:nvSpPr>
        <p:spPr>
          <a:xfrm>
            <a:off x="548640" y="3483720"/>
            <a:ext cx="594000" cy="594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trike="noStrike" u="none">
                <a:solidFill>
                  <a:schemeClr val="lt1"/>
                </a:solidFill>
                <a:effectLst/>
                <a:uFillTx/>
                <a:latin typeface="Calibri"/>
              </a:rPr>
              <a:t>3</a:t>
            </a:r>
            <a:endParaRPr b="0" lang="en-US" sz="2000" strike="noStrike" u="none">
              <a:solidFill>
                <a:srgbClr val="000000"/>
              </a:solidFill>
              <a:effectLst/>
              <a:uFillTx/>
              <a:latin typeface="Arial"/>
            </a:endParaRPr>
          </a:p>
        </p:txBody>
      </p:sp>
      <p:sp>
        <p:nvSpPr>
          <p:cNvPr id="129" name="Action 3"/>
          <p:cNvSpPr/>
          <p:nvPr/>
        </p:nvSpPr>
        <p:spPr>
          <a:xfrm>
            <a:off x="1371600" y="3392280"/>
            <a:ext cx="102409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chemeClr val="dk1"/>
                </a:solidFill>
                <a:effectLst/>
                <a:uFillTx/>
                <a:latin typeface="Calibri"/>
              </a:rPr>
              <a:t>Reprice or review the 252 high-sales, low-profit products</a:t>
            </a:r>
            <a:endParaRPr b="0" lang="en-US" sz="2000" strike="noStrike" u="none">
              <a:solidFill>
                <a:srgbClr val="000000"/>
              </a:solidFill>
              <a:effectLst/>
              <a:uFillTx/>
              <a:latin typeface="Arial"/>
            </a:endParaRPr>
          </a:p>
        </p:txBody>
      </p:sp>
      <p:sp>
        <p:nvSpPr>
          <p:cNvPr id="130" name="Action detail 3"/>
          <p:cNvSpPr/>
          <p:nvPr/>
        </p:nvSpPr>
        <p:spPr>
          <a:xfrm>
            <a:off x="1371600" y="3803760"/>
            <a:ext cx="1024092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accent5"/>
                </a:solidFill>
                <a:effectLst/>
                <a:uFillTx/>
                <a:latin typeface="Calibri"/>
              </a:rPr>
              <a:t>Raise prices, cut discounts or renegotiate cost; consider dropping the worst.</a:t>
            </a:r>
            <a:endParaRPr b="0" lang="en-US" sz="1400" strike="noStrike" u="none">
              <a:solidFill>
                <a:srgbClr val="000000"/>
              </a:solidFill>
              <a:effectLst/>
              <a:uFillTx/>
              <a:latin typeface="Arial"/>
            </a:endParaRPr>
          </a:p>
        </p:txBody>
      </p:sp>
      <p:sp>
        <p:nvSpPr>
          <p:cNvPr id="131" name="Number 4"/>
          <p:cNvSpPr/>
          <p:nvPr/>
        </p:nvSpPr>
        <p:spPr>
          <a:xfrm>
            <a:off x="548640" y="4471560"/>
            <a:ext cx="594000" cy="594000"/>
          </a:xfrm>
          <a:prstGeom prst="ellipse">
            <a:avLst/>
          </a:prstGeom>
          <a:solidFill>
            <a:schemeClr val="accent1"/>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2" name="Number text 4"/>
          <p:cNvSpPr/>
          <p:nvPr/>
        </p:nvSpPr>
        <p:spPr>
          <a:xfrm>
            <a:off x="548640" y="4471560"/>
            <a:ext cx="594000" cy="594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trike="noStrike" u="none">
                <a:solidFill>
                  <a:schemeClr val="lt1"/>
                </a:solidFill>
                <a:effectLst/>
                <a:uFillTx/>
                <a:latin typeface="Calibri"/>
              </a:rPr>
              <a:t>4</a:t>
            </a:r>
            <a:endParaRPr b="0" lang="en-US" sz="2000" strike="noStrike" u="none">
              <a:solidFill>
                <a:srgbClr val="000000"/>
              </a:solidFill>
              <a:effectLst/>
              <a:uFillTx/>
              <a:latin typeface="Arial"/>
            </a:endParaRPr>
          </a:p>
        </p:txBody>
      </p:sp>
      <p:sp>
        <p:nvSpPr>
          <p:cNvPr id="133" name="Action 4"/>
          <p:cNvSpPr/>
          <p:nvPr/>
        </p:nvSpPr>
        <p:spPr>
          <a:xfrm>
            <a:off x="1371600" y="4380120"/>
            <a:ext cx="102409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chemeClr val="dk1"/>
                </a:solidFill>
                <a:effectLst/>
                <a:uFillTx/>
                <a:latin typeface="Calibri"/>
              </a:rPr>
              <a:t>Review Furniture, especially Tables and Bookcases</a:t>
            </a:r>
            <a:endParaRPr b="0" lang="en-US" sz="2000" strike="noStrike" u="none">
              <a:solidFill>
                <a:srgbClr val="000000"/>
              </a:solidFill>
              <a:effectLst/>
              <a:uFillTx/>
              <a:latin typeface="Arial"/>
            </a:endParaRPr>
          </a:p>
        </p:txBody>
      </p:sp>
      <p:sp>
        <p:nvSpPr>
          <p:cNvPr id="134" name="Action detail 4"/>
          <p:cNvSpPr/>
          <p:nvPr/>
        </p:nvSpPr>
        <p:spPr>
          <a:xfrm>
            <a:off x="1371600" y="4791600"/>
            <a:ext cx="1024092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accent5"/>
                </a:solidFill>
                <a:effectLst/>
                <a:uFillTx/>
                <a:latin typeface="Calibri"/>
              </a:rPr>
              <a:t>Furniture earns a 2.5% margin and Tables lose $17,725.</a:t>
            </a:r>
            <a:endParaRPr b="0" lang="en-US" sz="1400" strike="noStrike" u="none">
              <a:solidFill>
                <a:srgbClr val="000000"/>
              </a:solidFill>
              <a:effectLst/>
              <a:uFillTx/>
              <a:latin typeface="Arial"/>
            </a:endParaRPr>
          </a:p>
        </p:txBody>
      </p:sp>
      <p:sp>
        <p:nvSpPr>
          <p:cNvPr id="135" name="Number 5"/>
          <p:cNvSpPr/>
          <p:nvPr/>
        </p:nvSpPr>
        <p:spPr>
          <a:xfrm>
            <a:off x="548640" y="5459040"/>
            <a:ext cx="594000" cy="594000"/>
          </a:xfrm>
          <a:prstGeom prst="ellipse">
            <a:avLst/>
          </a:prstGeom>
          <a:solidFill>
            <a:schemeClr val="accent1"/>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6" name="Number text 5"/>
          <p:cNvSpPr/>
          <p:nvPr/>
        </p:nvSpPr>
        <p:spPr>
          <a:xfrm>
            <a:off x="548640" y="5459040"/>
            <a:ext cx="594000" cy="594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trike="noStrike" u="none">
                <a:solidFill>
                  <a:schemeClr val="lt1"/>
                </a:solidFill>
                <a:effectLst/>
                <a:uFillTx/>
                <a:latin typeface="Calibri"/>
              </a:rPr>
              <a:t>5</a:t>
            </a:r>
            <a:endParaRPr b="0" lang="en-US" sz="2000" strike="noStrike" u="none">
              <a:solidFill>
                <a:srgbClr val="000000"/>
              </a:solidFill>
              <a:effectLst/>
              <a:uFillTx/>
              <a:latin typeface="Arial"/>
            </a:endParaRPr>
          </a:p>
        </p:txBody>
      </p:sp>
      <p:sp>
        <p:nvSpPr>
          <p:cNvPr id="137" name="Action 5"/>
          <p:cNvSpPr/>
          <p:nvPr/>
        </p:nvSpPr>
        <p:spPr>
          <a:xfrm>
            <a:off x="1371600" y="5367600"/>
            <a:ext cx="102409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chemeClr val="dk1"/>
                </a:solidFill>
                <a:effectLst/>
                <a:uFillTx/>
                <a:latin typeface="Calibri"/>
              </a:rPr>
              <a:t>Restart customer acquisition and protect the core customers</a:t>
            </a:r>
            <a:endParaRPr b="0" lang="en-US" sz="2000" strike="noStrike" u="none">
              <a:solidFill>
                <a:srgbClr val="000000"/>
              </a:solidFill>
              <a:effectLst/>
              <a:uFillTx/>
              <a:latin typeface="Arial"/>
            </a:endParaRPr>
          </a:p>
        </p:txBody>
      </p:sp>
      <p:sp>
        <p:nvSpPr>
          <p:cNvPr id="138" name="Action detail 5"/>
          <p:cNvSpPr/>
          <p:nvPr/>
        </p:nvSpPr>
        <p:spPr>
          <a:xfrm>
            <a:off x="1371600" y="5779080"/>
            <a:ext cx="1024092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chemeClr val="accent5"/>
                </a:solidFill>
                <a:effectLst/>
                <a:uFillTx/>
                <a:latin typeface="Calibri"/>
              </a:rPr>
              <a:t>Set a new-customer target and reward the High-Value segment.</a:t>
            </a:r>
            <a:endParaRPr b="0" lang="en-US" sz="1400" strike="noStrike" u="none">
              <a:solidFill>
                <a:srgbClr val="000000"/>
              </a:solidFill>
              <a:effectLst/>
              <a:uFillTx/>
              <a:latin typeface="Arial"/>
            </a:endParaRPr>
          </a:p>
        </p:txBody>
      </p:sp>
      <p:sp>
        <p:nvSpPr>
          <p:cNvPr id="139" name="PlaceHolder 2"/>
          <p:cNvSpPr>
            <a:spLocks noGrp="1"/>
          </p:cNvSpPr>
          <p:nvPr>
            <p:ph type="sldNum" idx="13"/>
          </p:nvPr>
        </p:nvSpPr>
        <p:spPr>
          <a:xfrm>
            <a:off x="11155680" y="6400800"/>
            <a:ext cx="548280" cy="273960"/>
          </a:xfrm>
          <a:prstGeom prst="rect">
            <a:avLst/>
          </a:prstGeom>
          <a:noFill/>
          <a:ln w="0">
            <a:noFill/>
          </a:ln>
        </p:spPr>
        <p:txBody>
          <a:bodyPr lIns="90000" rIns="90000" tIns="45000" bIns="45000" anchor="t">
            <a:noAutofit/>
          </a:bodyPr>
          <a:lstStyle>
            <a:lvl1pPr indent="0" defTabSz="914400">
              <a:lnSpc>
                <a:spcPct val="100000"/>
              </a:lnSpc>
              <a:buNone/>
              <a:defRPr b="0" lang="en-US" sz="1000" strike="noStrike" u="none">
                <a:solidFill>
                  <a:srgbClr val="5b6770"/>
                </a:solidFill>
                <a:effectLst/>
                <a:uFillTx/>
                <a:latin typeface="Calibri"/>
              </a:defRPr>
            </a:lvl1pPr>
          </a:lstStyle>
          <a:p>
            <a:pPr indent="0" defTabSz="914400">
              <a:lnSpc>
                <a:spcPct val="100000"/>
              </a:lnSpc>
              <a:buNone/>
            </a:pPr>
            <a:fld id="{F2BBD173-3D30-4373-835E-CC99281F7143}" type="slidenum">
              <a:rPr b="0" lang="en-US" sz="1000" strike="noStrike" u="none">
                <a:solidFill>
                  <a:srgbClr val="5b6770"/>
                </a:solidFill>
                <a:effectLst/>
                <a:uFillTx/>
                <a:latin typeface="Calibri"/>
              </a:rPr>
              <a:t>9</a:t>
            </a:fld>
            <a:endParaRPr b="0" lang="en-US" sz="1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731520" y="822960"/>
            <a:ext cx="10698120" cy="1279800"/>
          </a:xfrm>
          <a:prstGeom prst="rect">
            <a:avLst/>
          </a:prstGeom>
          <a:noFill/>
          <a:ln w="0">
            <a:noFill/>
          </a:ln>
        </p:spPr>
        <p:txBody>
          <a:bodyPr lIns="0" rIns="0" tIns="0" bIns="0" anchor="ctr">
            <a:noAutofit/>
          </a:bodyPr>
          <a:p>
            <a:pPr indent="0" defTabSz="914400">
              <a:lnSpc>
                <a:spcPct val="100000"/>
              </a:lnSpc>
              <a:buNone/>
              <a:tabLst>
                <a:tab algn="l" pos="0"/>
              </a:tabLst>
            </a:pPr>
            <a:r>
              <a:rPr b="1" lang="en-US" sz="4000" strike="noStrike" u="none">
                <a:solidFill>
                  <a:srgbClr val="ffffff"/>
                </a:solidFill>
                <a:effectLst/>
                <a:uFillTx/>
                <a:latin typeface="Cambria"/>
              </a:rPr>
              <a:t>Fix pricing first, then rebuild acquisition</a:t>
            </a:r>
            <a:endParaRPr b="0" lang="en-US" sz="4000" strike="noStrike" u="none">
              <a:solidFill>
                <a:schemeClr val="dk1"/>
              </a:solidFill>
              <a:effectLst/>
              <a:uFillTx/>
              <a:latin typeface="Calibri"/>
            </a:endParaRPr>
          </a:p>
        </p:txBody>
      </p:sp>
      <p:sp>
        <p:nvSpPr>
          <p:cNvPr id="141" name="Conclusion points"/>
          <p:cNvSpPr/>
          <p:nvPr/>
        </p:nvSpPr>
        <p:spPr>
          <a:xfrm>
            <a:off x="731520" y="2377440"/>
            <a:ext cx="10515240" cy="27428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1199"/>
              </a:spcAft>
              <a:buClr>
                <a:srgbClr val="ffffff"/>
              </a:buClr>
              <a:buFont typeface="Symbol" charset="2"/>
              <a:buChar char=""/>
            </a:pPr>
            <a:r>
              <a:rPr b="0" lang="en-US" sz="2200" strike="noStrike" u="none">
                <a:solidFill>
                  <a:schemeClr val="lt1"/>
                </a:solidFill>
                <a:effectLst/>
                <a:uFillTx/>
                <a:latin typeface="Calibri"/>
              </a:rPr>
              <a:t>The business is growing and profitable, with a loyal customer base.</a:t>
            </a:r>
            <a:endParaRPr b="0" lang="en-US" sz="2200" strike="noStrike" u="none">
              <a:solidFill>
                <a:srgbClr val="ffffff"/>
              </a:solidFill>
              <a:effectLst/>
              <a:uFillTx/>
              <a:latin typeface="Arial"/>
            </a:endParaRPr>
          </a:p>
          <a:p>
            <a:pPr marL="343080" indent="-343080" defTabSz="914400">
              <a:lnSpc>
                <a:spcPct val="100000"/>
              </a:lnSpc>
              <a:spcAft>
                <a:spcPts val="1199"/>
              </a:spcAft>
              <a:buClr>
                <a:srgbClr val="ffffff"/>
              </a:buClr>
              <a:buFont typeface="Symbol" charset="2"/>
              <a:buChar char=""/>
            </a:pPr>
            <a:r>
              <a:rPr b="0" lang="en-US" sz="2200" strike="noStrike" u="none">
                <a:solidFill>
                  <a:schemeClr val="lt1"/>
                </a:solidFill>
                <a:effectLst/>
                <a:uFillTx/>
                <a:latin typeface="Calibri"/>
              </a:rPr>
              <a:t>Its biggest problem is self-inflicted: discounts above 20% turn sales into losses.</a:t>
            </a:r>
            <a:endParaRPr b="0" lang="en-US" sz="2200" strike="noStrike" u="none">
              <a:solidFill>
                <a:srgbClr val="ffffff"/>
              </a:solidFill>
              <a:effectLst/>
              <a:uFillTx/>
              <a:latin typeface="Arial"/>
            </a:endParaRPr>
          </a:p>
          <a:p>
            <a:pPr marL="343080" indent="-343080" defTabSz="914400">
              <a:lnSpc>
                <a:spcPct val="100000"/>
              </a:lnSpc>
              <a:spcAft>
                <a:spcPts val="1199"/>
              </a:spcAft>
              <a:buClr>
                <a:srgbClr val="ffffff"/>
              </a:buClr>
              <a:buFont typeface="Symbol" charset="2"/>
              <a:buChar char=""/>
            </a:pPr>
            <a:r>
              <a:rPr b="0" lang="en-US" sz="2200" strike="noStrike" u="none">
                <a:solidFill>
                  <a:schemeClr val="lt1"/>
                </a:solidFill>
                <a:effectLst/>
                <a:uFillTx/>
                <a:latin typeface="Calibri"/>
              </a:rPr>
              <a:t>Almost all recent growth comes from customers the business already had.</a:t>
            </a:r>
            <a:endParaRPr b="0" lang="en-US" sz="2200" strike="noStrike" u="none">
              <a:solidFill>
                <a:srgbClr val="ffffff"/>
              </a:solidFill>
              <a:effectLst/>
              <a:uFillTx/>
              <a:latin typeface="Arial"/>
            </a:endParaRPr>
          </a:p>
          <a:p>
            <a:pPr marL="343080" indent="-343080" defTabSz="914400">
              <a:lnSpc>
                <a:spcPct val="100000"/>
              </a:lnSpc>
              <a:buClr>
                <a:srgbClr val="ffffff"/>
              </a:buClr>
              <a:buFont typeface="Symbol" charset="2"/>
              <a:buChar char=""/>
            </a:pPr>
            <a:r>
              <a:rPr b="0" lang="en-US" sz="2200" strike="noStrike" u="none">
                <a:solidFill>
                  <a:schemeClr val="lt1"/>
                </a:solidFill>
                <a:effectLst/>
                <a:uFillTx/>
                <a:latin typeface="Calibri"/>
              </a:rPr>
              <a:t>An interactive 4-page dashboard with filters supports every finding.</a:t>
            </a:r>
            <a:endParaRPr b="0" lang="en-US" sz="2200" strike="noStrike" u="none">
              <a:solidFill>
                <a:srgbClr val="ffffff"/>
              </a:solidFill>
              <a:effectLst/>
              <a:uFillTx/>
              <a:latin typeface="Arial"/>
            </a:endParaRPr>
          </a:p>
        </p:txBody>
      </p:sp>
      <p:sp>
        <p:nvSpPr>
          <p:cNvPr id="142" name="Closing line"/>
          <p:cNvSpPr/>
          <p:nvPr/>
        </p:nvSpPr>
        <p:spPr>
          <a:xfrm>
            <a:off x="731520" y="5669280"/>
            <a:ext cx="73148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trike="noStrike" u="none">
                <a:solidFill>
                  <a:srgbClr val="cfe3e0"/>
                </a:solidFill>
                <a:effectLst/>
                <a:uFillTx/>
                <a:latin typeface="Cambria"/>
                <a:ea typeface="Cambria"/>
              </a:rPr>
              <a:t>Thank you.</a:t>
            </a:r>
            <a:endParaRPr b="0" lang="en-US" sz="2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Retail Analytics">
  <a:themeElements>
    <a:clrScheme name="Retail Analytics">
      <a:dk1>
        <a:srgbClr val="1b2b2a"/>
      </a:dk1>
      <a:lt1>
        <a:srgbClr val="ffffff"/>
      </a:lt1>
      <a:dk2>
        <a:srgbClr val="134e4a"/>
      </a:dk2>
      <a:lt2>
        <a:srgbClr val="eef4f3"/>
      </a:lt2>
      <a:accent1>
        <a:srgbClr val="134e4a"/>
      </a:accent1>
      <a:accent2>
        <a:srgbClr val="e4572e"/>
      </a:accent2>
      <a:accent3>
        <a:srgbClr val="4c9f70"/>
      </a:accent3>
      <a:accent4>
        <a:srgbClr val="f2b134"/>
      </a:accent4>
      <a:accent5>
        <a:srgbClr val="5b6770"/>
      </a:accent5>
      <a:accent6>
        <a:srgbClr val="8e6bbf"/>
      </a:accent6>
      <a:hlink>
        <a:srgbClr val="134e4a"/>
      </a:hlink>
      <a:folHlink>
        <a:srgbClr val="5b6770"/>
      </a:folHlink>
    </a:clrScheme>
    <a:fontScheme name="Retail Analytics">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LibreOffice/25.2.3.2$Linux_X86_64 LibreOffice_project/520$Build-2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2026-10-17T16:02:13Z</dcterms:created>
  <dc:creator>PptxGenJS</dc:creator>
  <dc:description/>
  <dc:language>en-US</dc:language>
  <cp:lastModifiedBy/>
  <dcterms:modified xsi:type="dcterms:W3CDTF">2026-10-17T22:24:21Z</dcterms:modified>
  <cp:revision>4</cp:revision>
  <dc:subject>NexAfrica Data Analysis Internship, Task 1</dc:subject>
  <dc:title>Retail Sales Analytics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